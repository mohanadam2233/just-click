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331" r:id="rId2"/>
    <p:sldId id="332" r:id="rId3"/>
    <p:sldId id="333" r:id="rId4"/>
    <p:sldId id="334" r:id="rId5"/>
    <p:sldId id="257" r:id="rId6"/>
    <p:sldId id="335" r:id="rId7"/>
    <p:sldId id="336" r:id="rId8"/>
    <p:sldId id="337" r:id="rId9"/>
    <p:sldId id="338" r:id="rId10"/>
    <p:sldId id="339" r:id="rId11"/>
    <p:sldId id="412" r:id="rId12"/>
    <p:sldId id="413" r:id="rId13"/>
    <p:sldId id="414" r:id="rId14"/>
    <p:sldId id="423" r:id="rId15"/>
    <p:sldId id="415" r:id="rId16"/>
    <p:sldId id="417" r:id="rId17"/>
    <p:sldId id="424" r:id="rId18"/>
    <p:sldId id="416" r:id="rId19"/>
    <p:sldId id="418" r:id="rId20"/>
    <p:sldId id="425" r:id="rId21"/>
    <p:sldId id="419" r:id="rId22"/>
    <p:sldId id="421" r:id="rId23"/>
    <p:sldId id="422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ECF81D-5987-47ED-BCD2-0BEAA8D4EB83}">
          <p14:sldIdLst>
            <p14:sldId id="331"/>
            <p14:sldId id="332"/>
            <p14:sldId id="333"/>
            <p14:sldId id="334"/>
            <p14:sldId id="257"/>
            <p14:sldId id="335"/>
            <p14:sldId id="336"/>
            <p14:sldId id="337"/>
            <p14:sldId id="338"/>
            <p14:sldId id="339"/>
            <p14:sldId id="412"/>
            <p14:sldId id="413"/>
            <p14:sldId id="414"/>
          </p14:sldIdLst>
        </p14:section>
        <p14:section name="Scheduling-traditional method" id="{97C618BF-D261-43F1-86F7-3154468B4849}">
          <p14:sldIdLst>
            <p14:sldId id="423"/>
            <p14:sldId id="415"/>
            <p14:sldId id="417"/>
            <p14:sldId id="424"/>
            <p14:sldId id="416"/>
            <p14:sldId id="418"/>
          </p14:sldIdLst>
        </p14:section>
        <p14:section name="traditional method calculation With Arrival Time" id="{51D5FAF1-F512-4E58-B00F-DF3E4E473828}">
          <p14:sldIdLst>
            <p14:sldId id="425"/>
            <p14:sldId id="419"/>
            <p14:sldId id="421"/>
            <p14:sldId id="422"/>
          </p14:sldIdLst>
        </p14:section>
        <p14:section name="Modern method calculation" id="{C5E46013-40D9-45DD-B495-D201F3498654}">
          <p14:sldIdLst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A9076-6882-464E-98E9-39B8F7C5C4C8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55FDF-88E1-46AE-9B05-3CB7F68E6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29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44BE293-5A22-3150-1E3D-B220815A2C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52C51-913A-46E2-BCD0-B326AFE836E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5C5E76C8-59EE-90EF-6E88-C9864B3D14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EF0F6F1-B8EE-2E90-F7D4-4179EBAA2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5ED231D-8CA2-EECC-939F-DF59DB6862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0AF68-C120-4232-A054-009B9B1D311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15FBB87-D62B-C449-B5E6-6CABD2588E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1976CDB-67AC-A06A-DAC2-F1F7AA038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916C804-5BC0-09EB-B814-E38543C481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1B33B38-6DE4-B6F6-D29A-A1E1FBA56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D9202F9-AE47-D6A0-442A-CBE3377776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0CB9B8-8584-4782-B443-2D47587879B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8AACEE1-0B43-CD7F-4843-30BAAF7147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3B085E8-007C-D6DD-E411-064EBFDC4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F746991-F762-24E1-14E6-A69DC8CF0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B1A732-1E14-457C-8138-B5DA28FAD67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32BF5FE-744D-D361-B6FB-74F4BE7CDBA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F71FBFA-07F9-2652-CA18-589783939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Simple Analogy 🎓</a:t>
            </a:r>
          </a:p>
          <a:p>
            <a:r>
              <a:rPr lang="en-US" dirty="0"/>
              <a:t>Imagine classroom presentation.</a:t>
            </a:r>
          </a:p>
          <a:p>
            <a:r>
              <a:rPr lang="en-US" b="1" dirty="0"/>
              <a:t>Non-Preemptive</a:t>
            </a:r>
          </a:p>
          <a:p>
            <a:r>
              <a:rPr lang="en-US" dirty="0"/>
              <a:t>Student stops speaking voluntarily:</a:t>
            </a:r>
          </a:p>
          <a:p>
            <a:r>
              <a:rPr lang="en-US" dirty="0"/>
              <a:t>goes to bathroom </a:t>
            </a:r>
          </a:p>
          <a:p>
            <a:r>
              <a:rPr lang="en-US" dirty="0"/>
              <a:t>finishes presentation </a:t>
            </a:r>
          </a:p>
          <a:p>
            <a:r>
              <a:rPr lang="en-US" dirty="0"/>
              <a:t>Teacher did not stop him.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Preemptive</a:t>
            </a:r>
          </a:p>
          <a:p>
            <a:r>
              <a:rPr lang="en-US" dirty="0"/>
              <a:t>Teacher interrupts:</a:t>
            </a:r>
          </a:p>
          <a:p>
            <a:r>
              <a:rPr lang="en-US" dirty="0"/>
              <a:t>“Time finished!” </a:t>
            </a:r>
          </a:p>
          <a:p>
            <a:r>
              <a:rPr lang="en-US" dirty="0"/>
              <a:t>“Next student!” </a:t>
            </a:r>
          </a:p>
          <a:p>
            <a:r>
              <a:rPr lang="en-US" dirty="0"/>
              <a:t>Teacher forcefully changes speaker.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9CB1BD3A-9508-7FD7-80B2-4162FE31F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A45646-D960-4742-9121-6A8F4B47390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E80582BA-DB13-5437-D3BF-14A7B1B4751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A5D57D0-C6F7-E6FD-661D-CBE430BAE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B1D4B45-5326-E559-23AE-A36F5C7835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B9C1F6-FD7D-4582-A5B8-364CE2FE4A4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26851F5-89FB-B1D9-7DBF-97811CD40E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98F446A-A90A-99B6-CDA2-F9CD12B92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Turnaround time includes:</a:t>
            </a:r>
          </a:p>
          <a:p>
            <a:r>
              <a:rPr lang="en-US" dirty="0"/>
              <a:t>waiting time </a:t>
            </a:r>
          </a:p>
          <a:p>
            <a:r>
              <a:rPr lang="en-US" dirty="0"/>
              <a:t>CPU execution </a:t>
            </a:r>
          </a:p>
          <a:p>
            <a:r>
              <a:rPr lang="en-US" dirty="0"/>
              <a:t>I/O waiting </a:t>
            </a:r>
          </a:p>
          <a:p>
            <a:r>
              <a:rPr lang="en-US" dirty="0"/>
              <a:t>Everything until completion.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7C9823EF-EAA7-6E35-EE12-677DED9659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AFBD75-32C3-41C3-A940-B201801BA93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BE37B6E-B619-E956-9FC7-F25E987320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B092E05-6091-C3B3-8FF6-65A16371D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A0C1-6CF2-9083-9CF8-F8A5E32A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B8305D1-F75E-C58B-6E83-FEA31EF097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55E71D-0687-4A56-8075-C9FDBED3A90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F4079024-65D3-0FA2-CBE6-70DF2BFA64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D14368A9-B11C-ED0B-C08B-AEAFE6ED69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367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BCFD8348-D8D5-C989-FD9D-47958B78E885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E6164BC9-6902-056A-63D0-BC635C8EA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5C59041D-F67F-D2BD-F401-35471C272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55342E2F-30DF-1D26-7F42-626C39343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</p:grpSp>
      <p:sp>
        <p:nvSpPr>
          <p:cNvPr id="6" name="Text Box 7">
            <a:extLst>
              <a:ext uri="{FF2B5EF4-FFF2-40B4-BE49-F238E27FC236}">
                <a16:creationId xmlns:a16="http://schemas.microsoft.com/office/drawing/2014/main" id="{17BF7C4F-6883-357A-FB52-8899DBF7F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47F7A13B-0B0B-45E5-5417-BCC9DC066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8" name="Picture 9" descr="dino_4">
            <a:extLst>
              <a:ext uri="{FF2B5EF4-FFF2-40B4-BE49-F238E27FC236}">
                <a16:creationId xmlns:a16="http://schemas.microsoft.com/office/drawing/2014/main" id="{5DA0225E-5C0A-0747-4492-737729863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EBC8A6D6-EC5C-2FDA-F45E-074B5036D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197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72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376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13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669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397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18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884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9096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34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885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9AEDB4EB-85A4-5A05-A4CD-66B4E75FB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4D06EC0D-3625-74A9-477C-1B88014DE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99E05C-BBC6-9CFC-EF6F-D299CEE4A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820EA6A-29B5-2DB1-04F2-56EFAC178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58D489A3-A610-DDD9-7488-0657857F6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1E3A989-0C08-E5F9-E9CD-3BDDB4398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DD7EA6-4383-5ACC-9B2D-FE748D46A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5134C651-9906-9FE6-A538-8E408E9DD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456" y="6613526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5.</a:t>
            </a:r>
            <a:fld id="{15653B34-EE5F-48A0-A51C-F8F71EFF7469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D54C5597-FDFE-7452-406E-D9D586F9A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D1C106B4-434B-0BD6-FA02-D9C8A2E70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1" y="6621463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21F717D8-C264-AFD0-2BDF-524CCB4F9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054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6ACF6E-B679-E08E-FAC3-ED5816FA4A8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5:  CPU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FA56B3A-8615-229F-463B-8BEE85DE0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762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5:  CPU Scheduling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264A381-A524-EBA4-9911-B70972526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368" y="926447"/>
            <a:ext cx="11218208" cy="5348847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  <a:p>
            <a:r>
              <a:rPr lang="en-US" altLang="en-US" dirty="0"/>
              <a:t>Scheduling Criteria </a:t>
            </a:r>
          </a:p>
          <a:p>
            <a:r>
              <a:rPr lang="en-US" altLang="en-US" dirty="0"/>
              <a:t>Scheduling Algorithms</a:t>
            </a:r>
          </a:p>
          <a:p>
            <a:r>
              <a:rPr lang="en-US" altLang="en-US" dirty="0"/>
              <a:t>Thread Scheduling</a:t>
            </a:r>
          </a:p>
          <a:p>
            <a:r>
              <a:rPr lang="en-US" altLang="en-US" dirty="0"/>
              <a:t>Multi-Processor Scheduling</a:t>
            </a:r>
          </a:p>
          <a:p>
            <a:r>
              <a:rPr lang="en-US" altLang="en-US" dirty="0"/>
              <a:t>Real-Time CPU Scheduling</a:t>
            </a:r>
          </a:p>
          <a:p>
            <a:r>
              <a:rPr lang="en-US" altLang="en-US" dirty="0"/>
              <a:t>Operating Systems Examples</a:t>
            </a:r>
          </a:p>
          <a:p>
            <a:r>
              <a:rPr lang="en-US" altLang="en-US" dirty="0"/>
              <a:t>Algorithm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1B56F6F-6651-E852-6419-19209B749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FF6A3D6-1F40-E073-3FC5-4803B6DFAD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1016" y="901795"/>
            <a:ext cx="11469968" cy="5633476"/>
          </a:xfrm>
        </p:spPr>
        <p:txBody>
          <a:bodyPr/>
          <a:lstStyle/>
          <a:p>
            <a:r>
              <a:rPr lang="en-US" altLang="en-US" dirty="0"/>
              <a:t>Describe various CPU scheduling algorithms</a:t>
            </a:r>
          </a:p>
          <a:p>
            <a:r>
              <a:rPr lang="en-US" altLang="en-US" dirty="0"/>
              <a:t>Assess CPU scheduling algorithms based on scheduling criteria</a:t>
            </a:r>
          </a:p>
          <a:p>
            <a:r>
              <a:rPr lang="en-US" altLang="en-US" dirty="0"/>
              <a:t>Explain the issues related to multiprocessor and multicore scheduling</a:t>
            </a:r>
          </a:p>
          <a:p>
            <a:r>
              <a:rPr lang="en-US" altLang="en-US" dirty="0"/>
              <a:t>Describe various real-time scheduling algorithms</a:t>
            </a:r>
          </a:p>
          <a:p>
            <a:r>
              <a:rPr lang="en-US" altLang="en-US" dirty="0"/>
              <a:t>Describe the scheduling algorithms used in the Windows, Linux, and Solaris operating systems</a:t>
            </a:r>
          </a:p>
          <a:p>
            <a:r>
              <a:rPr lang="en-US" altLang="en-US" dirty="0"/>
              <a:t>Apply modeling and simulations to evaluate CPU scheduling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1EF181E-D86A-544D-BF37-1C397B085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Do We Need CPU Scheduling?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015DDB20-EAC3-1BA1-A2FC-49848603C8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 a single-processor system, only one process runs at a time.</a:t>
            </a:r>
          </a:p>
          <a:p>
            <a:r>
              <a:rPr lang="en-US" altLang="en-US"/>
              <a:t>When a process waits for I/O, the CPU may become idle.</a:t>
            </a:r>
          </a:p>
          <a:p>
            <a:r>
              <a:rPr lang="en-US" altLang="en-US"/>
              <a:t>Idle CPU time wastes system resources.</a:t>
            </a:r>
          </a:p>
          <a:p>
            <a:r>
              <a:rPr lang="en-US" altLang="en-US"/>
              <a:t>CPU scheduling keeps the CPU busy by selecting another ready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AEEA483-EAF9-167E-E264-031CB824F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Objectives of CPU Scheduling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ADC19480-49B3-D4D2-8322-77F38CC75F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Maximize CPU utilization</a:t>
            </a:r>
          </a:p>
          <a:p>
            <a:r>
              <a:rPr lang="en-US" altLang="en-US"/>
              <a:t>Increase throughput</a:t>
            </a:r>
          </a:p>
          <a:p>
            <a:r>
              <a:rPr lang="en-US" altLang="en-US"/>
              <a:t>Reduce waiting and turnaround time</a:t>
            </a:r>
          </a:p>
          <a:p>
            <a:r>
              <a:rPr lang="en-US" altLang="en-US"/>
              <a:t>Improve response time</a:t>
            </a:r>
          </a:p>
          <a:p>
            <a:r>
              <a:rPr lang="en-US" altLang="en-US"/>
              <a:t>Enhance overall system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E811945-49BC-98D2-D165-33FAC2724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47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Basic Concepts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75E7875A-7B01-8BB9-CB71-E1FEAD48B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7214" y="898945"/>
            <a:ext cx="9302112" cy="54784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Maximum CPU utilization obtained with multiprogramming</a:t>
            </a:r>
          </a:p>
          <a:p>
            <a:r>
              <a:rPr lang="en-US" dirty="0"/>
              <a:t>“Burst” means:</a:t>
            </a:r>
          </a:p>
          <a:p>
            <a:pPr lvl="1"/>
            <a:r>
              <a:rPr lang="en-US" dirty="0"/>
              <a:t>➡️ a short period of activity</a:t>
            </a:r>
            <a:endParaRPr lang="en-US" altLang="en-US" dirty="0"/>
          </a:p>
          <a:p>
            <a:pPr>
              <a:defRPr/>
            </a:pPr>
            <a:r>
              <a:rPr lang="en-US" dirty="0"/>
              <a:t>A process does </a:t>
            </a:r>
            <a:r>
              <a:rPr lang="en-US" b="1" dirty="0"/>
              <a:t>two repeating states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altLang="en-US" b="1" dirty="0"/>
              <a:t>CPU Burst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altLang="en-US" b="1" dirty="0"/>
              <a:t>I/O Burst</a:t>
            </a:r>
          </a:p>
          <a:p>
            <a:pPr>
              <a:defRPr/>
            </a:pPr>
            <a:r>
              <a:rPr lang="en-US" altLang="en-US" dirty="0"/>
              <a:t>CPU–I/O Burst Cycle</a:t>
            </a:r>
            <a:r>
              <a:rPr lang="en-US" altLang="en-US" dirty="0">
                <a:highlight>
                  <a:srgbClr val="FFFF00"/>
                </a:highlight>
              </a:rPr>
              <a:t>(Two States) </a:t>
            </a:r>
            <a:r>
              <a:rPr lang="en-US" altLang="en-US" dirty="0"/>
              <a:t>– Process execution consists of a </a:t>
            </a:r>
            <a:r>
              <a:rPr lang="en-US" altLang="en-US" b="1" dirty="0">
                <a:solidFill>
                  <a:srgbClr val="3366FF"/>
                </a:solidFill>
              </a:rPr>
              <a:t>cycle</a:t>
            </a:r>
            <a:r>
              <a:rPr lang="en-US" altLang="en-US" dirty="0"/>
              <a:t> of CPU execution and I/O wait</a:t>
            </a:r>
          </a:p>
          <a:p>
            <a:pPr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CPU burst </a:t>
            </a:r>
            <a:r>
              <a:rPr lang="en-US" altLang="en-US" dirty="0"/>
              <a:t>followed by </a:t>
            </a:r>
            <a:r>
              <a:rPr lang="en-US" altLang="en-US" b="1" dirty="0">
                <a:solidFill>
                  <a:srgbClr val="3366FF"/>
                </a:solidFill>
              </a:rPr>
              <a:t>I/O burst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CPU burst distribution is the main concern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dirty="0">
                <a:highlight>
                  <a:srgbClr val="FFFF00"/>
                </a:highlight>
              </a:rPr>
              <a:t>Note:</a:t>
            </a:r>
          </a:p>
          <a:p>
            <a:pPr>
              <a:buFont typeface="Monotype Sorts" pitchFamily="-84" charset="2"/>
              <a:buAutoNum type="arabicParenR"/>
              <a:defRPr/>
            </a:pPr>
            <a:r>
              <a:rPr lang="en-US" altLang="en-US" b="1" dirty="0"/>
              <a:t>CPU Burst : </a:t>
            </a:r>
            <a:r>
              <a:rPr lang="en-US" altLang="en-US" dirty="0"/>
              <a:t>is when the process is being executed in the CPU</a:t>
            </a:r>
          </a:p>
          <a:p>
            <a:pPr lvl="1">
              <a:buFont typeface="Monotype Sorts" pitchFamily="-84" charset="2"/>
              <a:buAutoNum type="arabicParenR"/>
              <a:defRPr/>
            </a:pPr>
            <a:r>
              <a:rPr lang="en-US" dirty="0"/>
              <a:t>The process is </a:t>
            </a:r>
            <a:r>
              <a:rPr lang="en-US" b="1" dirty="0"/>
              <a:t>actively using the CPU</a:t>
            </a:r>
            <a:r>
              <a:rPr lang="en-US" dirty="0"/>
              <a:t> to execute instructions.</a:t>
            </a:r>
            <a:endParaRPr lang="en-US" altLang="en-US" dirty="0"/>
          </a:p>
          <a:p>
            <a:pPr>
              <a:buFont typeface="Monotype Sorts" pitchFamily="-84" charset="2"/>
              <a:buAutoNum type="arabicParenR"/>
              <a:defRPr/>
            </a:pPr>
            <a:r>
              <a:rPr lang="en-US" altLang="en-US" b="1" dirty="0"/>
              <a:t>I/O Burst : </a:t>
            </a:r>
            <a:r>
              <a:rPr lang="en-US" altLang="en-US" dirty="0"/>
              <a:t>is when the CPU is waiting for I/O for further execution</a:t>
            </a:r>
          </a:p>
          <a:p>
            <a:pPr lvl="1">
              <a:buFont typeface="Monotype Sorts" pitchFamily="-84" charset="2"/>
              <a:buAutoNum type="arabicParenR"/>
              <a:defRPr/>
            </a:pPr>
            <a:r>
              <a:rPr lang="en-US" dirty="0"/>
              <a:t>The process stops using CPU and waits for input/output operations.</a:t>
            </a:r>
            <a:endParaRPr lang="en-US" altLang="en-US" dirty="0"/>
          </a:p>
        </p:txBody>
      </p:sp>
      <p:pic>
        <p:nvPicPr>
          <p:cNvPr id="13316" name="Picture 1">
            <a:extLst>
              <a:ext uri="{FF2B5EF4-FFF2-40B4-BE49-F238E27FC236}">
                <a16:creationId xmlns:a16="http://schemas.microsoft.com/office/drawing/2014/main" id="{7066D67C-0599-0E11-B05A-CA35B0A59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9326" y="1336302"/>
            <a:ext cx="2473026" cy="460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E3E425A-26C2-621E-FD78-3454DA383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2016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/>
              <a:t>CPU Scheduler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CE4ECC1-E164-6EED-27CB-2ADE62C164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5781" y="855663"/>
            <a:ext cx="11886219" cy="4786312"/>
          </a:xfrm>
        </p:spPr>
        <p:txBody>
          <a:bodyPr/>
          <a:lstStyle/>
          <a:p>
            <a:pPr marL="342815" indent="-342815">
              <a:buFont typeface="Monotype Sorts" charset="2"/>
              <a:buChar char="n"/>
              <a:defRPr/>
            </a:pPr>
            <a:r>
              <a:rPr lang="en-US" sz="1600" dirty="0">
                <a:ea typeface="ＭＳ Ｐゴシック" charset="0"/>
                <a:cs typeface="ＭＳ Ｐゴシック" charset="0"/>
              </a:rPr>
              <a:t>The</a:t>
            </a:r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CPU scheduler </a:t>
            </a:r>
            <a:r>
              <a:rPr lang="en-US" sz="1600" dirty="0">
                <a:ea typeface="ＭＳ Ｐゴシック" charset="-128"/>
                <a:cs typeface="ＭＳ Ｐゴシック" charset="-128"/>
              </a:rPr>
              <a:t>selects from among the processes in the ready queue, and allocates a CPU core to one of them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sz="1600" dirty="0">
                <a:ea typeface="ＭＳ Ｐゴシック" charset="-128"/>
              </a:rPr>
              <a:t> The queue may be ordered in various ways</a:t>
            </a: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sz="1600" dirty="0">
                <a:ea typeface="ＭＳ Ｐゴシック" charset="-128"/>
                <a:cs typeface="ＭＳ Ｐゴシック" charset="-128"/>
              </a:rPr>
              <a:t>CPU scheduling decisions may take place when a process:</a:t>
            </a:r>
          </a:p>
          <a:p>
            <a:pPr marL="799900" lvl="1" indent="-342815">
              <a:buNone/>
              <a:defRPr/>
            </a:pPr>
            <a:r>
              <a:rPr lang="en-US" sz="1600" dirty="0">
                <a:solidFill>
                  <a:srgbClr val="CC6600"/>
                </a:solidFill>
                <a:ea typeface="ＭＳ Ｐゴシック" charset="-128"/>
              </a:rPr>
              <a:t>1.	</a:t>
            </a:r>
            <a:r>
              <a:rPr lang="en-US" sz="1600" dirty="0">
                <a:ea typeface="ＭＳ Ｐゴシック" charset="-128"/>
              </a:rPr>
              <a:t>Switches from running to waiting state</a:t>
            </a:r>
          </a:p>
          <a:p>
            <a:pPr marL="799900" lvl="1" indent="-342815">
              <a:buNone/>
              <a:defRPr/>
            </a:pPr>
            <a:r>
              <a:rPr lang="en-US" sz="1600" dirty="0">
                <a:solidFill>
                  <a:srgbClr val="CC6600"/>
                </a:solidFill>
                <a:ea typeface="ＭＳ Ｐゴシック" charset="-128"/>
              </a:rPr>
              <a:t>2.</a:t>
            </a:r>
            <a:r>
              <a:rPr lang="en-US" sz="1600" dirty="0">
                <a:ea typeface="ＭＳ Ｐゴシック" charset="-128"/>
              </a:rPr>
              <a:t>	Switches from running to ready state</a:t>
            </a:r>
          </a:p>
          <a:p>
            <a:pPr marL="799900" lvl="1" indent="-342815">
              <a:buNone/>
              <a:defRPr/>
            </a:pPr>
            <a:r>
              <a:rPr lang="en-US" sz="1600" dirty="0">
                <a:solidFill>
                  <a:srgbClr val="CC6600"/>
                </a:solidFill>
                <a:ea typeface="ＭＳ Ｐゴシック" charset="-128"/>
              </a:rPr>
              <a:t>3.</a:t>
            </a:r>
            <a:r>
              <a:rPr lang="en-US" sz="1600" dirty="0">
                <a:ea typeface="ＭＳ Ｐゴシック" charset="-128"/>
              </a:rPr>
              <a:t>	Switches from waiting to ready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r>
              <a:rPr lang="en-US" sz="1600" dirty="0">
                <a:ea typeface="ＭＳ Ｐゴシック" charset="-128"/>
              </a:rPr>
              <a:t>Terminates</a:t>
            </a: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sz="1600" dirty="0">
                <a:ea typeface="ＭＳ Ｐゴシック" charset="-128"/>
                <a:cs typeface="ＭＳ Ｐゴシック" charset="-128"/>
              </a:rPr>
              <a:t>Scheduling under 1 and 4 is </a:t>
            </a:r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non-preemptive </a:t>
            </a:r>
          </a:p>
          <a:p>
            <a:pPr marL="742865" lvl="1" indent="-342815">
              <a:buFont typeface="Monotype Sorts" charset="2"/>
              <a:buChar char="n"/>
              <a:defRPr/>
            </a:pPr>
            <a:r>
              <a:rPr lang="en-US" sz="1600" dirty="0"/>
              <a:t>Process decides when to leave CPU.</a:t>
            </a:r>
            <a:endParaRPr lang="en-US" sz="1600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sz="1600" dirty="0">
                <a:ea typeface="ＭＳ Ｐゴシック" charset="-128"/>
                <a:cs typeface="ＭＳ Ｐゴシック" charset="-128"/>
              </a:rPr>
              <a:t>All other scheduling is </a:t>
            </a:r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 </a:t>
            </a:r>
          </a:p>
          <a:p>
            <a:pPr marL="742865" lvl="1" indent="-342815">
              <a:buFont typeface="Monotype Sorts" charset="2"/>
              <a:buChar char="n"/>
              <a:defRPr/>
            </a:pPr>
            <a:r>
              <a:rPr lang="en-US" sz="1600" dirty="0"/>
              <a:t>Operating system decides when to remove process from CPU.</a:t>
            </a:r>
            <a:endParaRPr lang="en-US" sz="1600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163A3E-7080-B8BF-F44A-8448E15E374B}"/>
              </a:ext>
            </a:extLst>
          </p:cNvPr>
          <p:cNvCxnSpPr>
            <a:cxnSpLocks/>
          </p:cNvCxnSpPr>
          <p:nvPr/>
        </p:nvCxnSpPr>
        <p:spPr bwMode="auto">
          <a:xfrm>
            <a:off x="1176945" y="2157226"/>
            <a:ext cx="388143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334478-C24F-CBF1-F343-BED5BC8393A3}"/>
              </a:ext>
            </a:extLst>
          </p:cNvPr>
          <p:cNvCxnSpPr>
            <a:cxnSpLocks/>
          </p:cNvCxnSpPr>
          <p:nvPr/>
        </p:nvCxnSpPr>
        <p:spPr bwMode="auto">
          <a:xfrm>
            <a:off x="1176945" y="3169024"/>
            <a:ext cx="144938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C6C1F2-ED3A-E34E-AF5E-5283E4D5C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72158"/>
              </p:ext>
            </p:extLst>
          </p:nvPr>
        </p:nvGraphicFramePr>
        <p:xfrm>
          <a:off x="648542" y="4853487"/>
          <a:ext cx="8026212" cy="1732552"/>
        </p:xfrm>
        <a:graphic>
          <a:graphicData uri="http://schemas.openxmlformats.org/drawingml/2006/table">
            <a:tbl>
              <a:tblPr firstRow="1" firstCol="1" bandRow="1" bandCol="1">
                <a:tableStyleId>{793D81CF-94F2-401A-BA57-92F5A7B2D0C5}</a:tableStyleId>
              </a:tblPr>
              <a:tblGrid>
                <a:gridCol w="2675404">
                  <a:extLst>
                    <a:ext uri="{9D8B030D-6E8A-4147-A177-3AD203B41FA5}">
                      <a16:colId xmlns:a16="http://schemas.microsoft.com/office/drawing/2014/main" val="2655473025"/>
                    </a:ext>
                  </a:extLst>
                </a:gridCol>
                <a:gridCol w="2675404">
                  <a:extLst>
                    <a:ext uri="{9D8B030D-6E8A-4147-A177-3AD203B41FA5}">
                      <a16:colId xmlns:a16="http://schemas.microsoft.com/office/drawing/2014/main" val="3969569338"/>
                    </a:ext>
                  </a:extLst>
                </a:gridCol>
                <a:gridCol w="2675404">
                  <a:extLst>
                    <a:ext uri="{9D8B030D-6E8A-4147-A177-3AD203B41FA5}">
                      <a16:colId xmlns:a16="http://schemas.microsoft.com/office/drawing/2014/main" val="3289978183"/>
                    </a:ext>
                  </a:extLst>
                </a:gridCol>
              </a:tblGrid>
              <a:tr h="283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Situation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913518"/>
                  </a:ext>
                </a:extLst>
              </a:tr>
              <a:tr h="293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Running → 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Process waits for I/O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Non-preemptive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329481"/>
                  </a:ext>
                </a:extLst>
              </a:tr>
              <a:tr h="513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Running → 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OS removes process from 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Preemptive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583829"/>
                  </a:ext>
                </a:extLst>
              </a:tr>
              <a:tr h="293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Waiting → 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I/O finished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Preemptive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280439"/>
                  </a:ext>
                </a:extLst>
              </a:tr>
              <a:tr h="293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Terminates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Process finished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Non-preemptive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08692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F031030-DEBB-754D-053B-C01EBD39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182" y="1781006"/>
            <a:ext cx="2278818" cy="1477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8E0FA19-3C3B-83C4-319B-D47092754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335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Dispatcher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A272B57-4570-9F53-D931-678A7DE63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6820" y="889094"/>
            <a:ext cx="11845179" cy="5708930"/>
          </a:xfrm>
        </p:spPr>
        <p:txBody>
          <a:bodyPr/>
          <a:lstStyle/>
          <a:p>
            <a:r>
              <a:rPr lang="en-US" altLang="en-US" dirty="0"/>
              <a:t>Dispatcher module gives control of the CPU to the process selected by the short-term scheduler; this involves:</a:t>
            </a:r>
          </a:p>
          <a:p>
            <a:pPr lvl="1"/>
            <a:r>
              <a:rPr lang="en-US" altLang="en-US" dirty="0"/>
              <a:t>switching context</a:t>
            </a:r>
          </a:p>
          <a:p>
            <a:pPr lvl="1"/>
            <a:r>
              <a:rPr lang="en-US" altLang="en-US" dirty="0"/>
              <a:t>switching to user mode</a:t>
            </a:r>
          </a:p>
          <a:p>
            <a:pPr lvl="1"/>
            <a:r>
              <a:rPr lang="en-US" altLang="en-US" dirty="0"/>
              <a:t>jumping to the proper location in the user program to restart that program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Dispatch latency </a:t>
            </a:r>
            <a:r>
              <a:rPr lang="en-US" altLang="en-US" dirty="0"/>
              <a:t>– time it takes for the dispatcher to stop one process and start another running</a:t>
            </a:r>
          </a:p>
        </p:txBody>
      </p:sp>
      <p:pic>
        <p:nvPicPr>
          <p:cNvPr id="17412" name="Picture 1">
            <a:extLst>
              <a:ext uri="{FF2B5EF4-FFF2-40B4-BE49-F238E27FC236}">
                <a16:creationId xmlns:a16="http://schemas.microsoft.com/office/drawing/2014/main" id="{F7D282B4-F281-4B52-C290-FF3503D85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329" y="2831259"/>
            <a:ext cx="4382247" cy="367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E832568-E0F3-6FEA-DAED-9E1F0FD2B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6671" y="70878"/>
            <a:ext cx="7696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Scheduling Criteria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869FC99-C00C-2185-0A1B-D6ADF556B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8943" y="568978"/>
            <a:ext cx="11923057" cy="6289022"/>
          </a:xfrm>
          <a:solidFill>
            <a:schemeClr val="bg1"/>
          </a:solidFill>
        </p:spPr>
        <p:txBody>
          <a:bodyPr/>
          <a:lstStyle/>
          <a:p>
            <a:r>
              <a:rPr lang="en-US" sz="1300" b="1" dirty="0"/>
              <a:t>How we evaluate CPU Scheduling Algorithms</a:t>
            </a:r>
          </a:p>
          <a:p>
            <a:pPr lvl="1"/>
            <a:r>
              <a:rPr lang="en-US" sz="1300" dirty="0"/>
              <a:t>The OS wants to know:</a:t>
            </a:r>
          </a:p>
          <a:p>
            <a:pPr lvl="2"/>
            <a:r>
              <a:rPr lang="en-US" sz="1300" dirty="0"/>
              <a:t>“Which scheduling algorithm is better?”</a:t>
            </a:r>
          </a:p>
          <a:p>
            <a:pPr lvl="1"/>
            <a:r>
              <a:rPr lang="en-US" sz="1300" dirty="0"/>
              <a:t>So we measure performance using some criteria.</a:t>
            </a:r>
            <a:endParaRPr lang="en-US" altLang="en-US" sz="1300" dirty="0">
              <a:ea typeface="ＭＳ Ｐゴシック" panose="020B0600070205080204" pitchFamily="34" charset="-128"/>
            </a:endParaRPr>
          </a:p>
          <a:p>
            <a:r>
              <a:rPr lang="en-US" altLang="en-US" sz="1300" dirty="0">
                <a:ea typeface="ＭＳ Ｐゴシック" panose="020B0600070205080204" pitchFamily="34" charset="-128"/>
              </a:rPr>
              <a:t>Many criteria have been suggested for comparing CPU-scheduling algorithms.</a:t>
            </a:r>
            <a:endParaRPr lang="en-US" altLang="en-US" sz="1300" b="1" dirty="0"/>
          </a:p>
          <a:p>
            <a:r>
              <a:rPr lang="en-US" altLang="en-US" sz="1300" b="1" dirty="0"/>
              <a:t>CPU utilization </a:t>
            </a:r>
            <a:r>
              <a:rPr lang="en-US" altLang="en-US" sz="1300" dirty="0"/>
              <a:t>– keep the CPU as busy as possible</a:t>
            </a:r>
          </a:p>
          <a:p>
            <a:pPr lvl="1"/>
            <a:r>
              <a:rPr lang="en-US" sz="1300" dirty="0"/>
              <a:t>Teacher teaching most of the class time = good utilization.</a:t>
            </a:r>
          </a:p>
          <a:p>
            <a:pPr lvl="1"/>
            <a:r>
              <a:rPr lang="en-US" sz="1300" dirty="0"/>
              <a:t>Teacher sitting idle most time = poor utilization</a:t>
            </a:r>
            <a:endParaRPr lang="en-US" altLang="en-US" sz="1300" dirty="0"/>
          </a:p>
          <a:p>
            <a:r>
              <a:rPr lang="en-US" altLang="en-US" sz="1300" b="1" dirty="0"/>
              <a:t>Throughput</a:t>
            </a:r>
            <a:r>
              <a:rPr lang="en-US" altLang="en-US" sz="1300" dirty="0"/>
              <a:t> – Number of processes that complete their execution per time unit</a:t>
            </a:r>
          </a:p>
          <a:p>
            <a:pPr lvl="1"/>
            <a:r>
              <a:rPr lang="en-US" sz="1300" dirty="0"/>
              <a:t>How many students finish exam per hour.</a:t>
            </a:r>
          </a:p>
          <a:p>
            <a:pPr lvl="1"/>
            <a:r>
              <a:rPr lang="en-US" sz="1300" dirty="0"/>
              <a:t>More completed students = higher throughput</a:t>
            </a:r>
            <a:endParaRPr lang="en-US" altLang="en-US" sz="1300" dirty="0"/>
          </a:p>
          <a:p>
            <a:r>
              <a:rPr lang="en-US" altLang="en-US" sz="1300" b="1" dirty="0"/>
              <a:t>Turnaround time </a:t>
            </a:r>
            <a:r>
              <a:rPr lang="en-US" altLang="en-US" sz="1300" dirty="0"/>
              <a:t>– the amount of time to execute a particular process</a:t>
            </a:r>
          </a:p>
          <a:p>
            <a:pPr lvl="1"/>
            <a:r>
              <a:rPr lang="en-US" sz="1300" dirty="0"/>
              <a:t>Process arrives at: </a:t>
            </a:r>
            <a:r>
              <a:rPr lang="en-US" sz="1300" b="1" dirty="0"/>
              <a:t>2 PM</a:t>
            </a:r>
          </a:p>
          <a:p>
            <a:pPr lvl="1"/>
            <a:r>
              <a:rPr lang="en-US" sz="1300" dirty="0"/>
              <a:t>Finishes at: </a:t>
            </a:r>
            <a:r>
              <a:rPr lang="en-US" sz="1300" b="1" dirty="0"/>
              <a:t>2:10 PM</a:t>
            </a:r>
          </a:p>
          <a:p>
            <a:pPr lvl="1"/>
            <a:r>
              <a:rPr lang="en-US" sz="1300" dirty="0"/>
              <a:t>Turnaround time:</a:t>
            </a:r>
            <a:r>
              <a:rPr lang="en-US" sz="1300" b="1" dirty="0"/>
              <a:t>10 minutes</a:t>
            </a:r>
            <a:endParaRPr lang="en-US" altLang="en-US" sz="1300" b="1" dirty="0"/>
          </a:p>
          <a:p>
            <a:r>
              <a:rPr lang="en-US" altLang="en-US" sz="1300" b="1" dirty="0"/>
              <a:t>Waiting time </a:t>
            </a:r>
            <a:r>
              <a:rPr lang="en-US" altLang="en-US" sz="1300" dirty="0"/>
              <a:t>– amount of time a process has been waiting in the ready queue</a:t>
            </a:r>
          </a:p>
          <a:p>
            <a:pPr lvl="1"/>
            <a:r>
              <a:rPr lang="en-US" sz="1300" dirty="0"/>
              <a:t>How long process waits in ready queue before getting CPU.</a:t>
            </a:r>
            <a:endParaRPr lang="en-US" altLang="en-US" sz="1300" dirty="0"/>
          </a:p>
          <a:p>
            <a:r>
              <a:rPr lang="en-US" altLang="en-US" sz="1300" b="1" dirty="0"/>
              <a:t>Response time </a:t>
            </a:r>
            <a:r>
              <a:rPr lang="en-US" altLang="en-US" sz="1300" dirty="0"/>
              <a:t>– amount of time it takes from when a request was submitted until the first response is produced, not output  (for time-sharing environment)</a:t>
            </a:r>
          </a:p>
          <a:p>
            <a:pPr lvl="2"/>
            <a:r>
              <a:rPr lang="en-US" sz="1300" b="1" dirty="0"/>
              <a:t>Example  Response Time = 1 second</a:t>
            </a:r>
          </a:p>
          <a:p>
            <a:pPr lvl="3"/>
            <a:r>
              <a:rPr lang="en-US" sz="1300" dirty="0"/>
              <a:t>You open browser.</a:t>
            </a:r>
          </a:p>
          <a:p>
            <a:pPr lvl="4"/>
            <a:r>
              <a:rPr lang="en-US" sz="1300" dirty="0"/>
              <a:t>click website now </a:t>
            </a:r>
          </a:p>
          <a:p>
            <a:pPr lvl="4"/>
            <a:r>
              <a:rPr lang="en-US" sz="1300" dirty="0"/>
              <a:t>first page appears after 1 second </a:t>
            </a:r>
          </a:p>
          <a:p>
            <a:pPr lvl="4"/>
            <a:r>
              <a:rPr lang="en-US" sz="1300" dirty="0"/>
              <a:t>full loading takes 5 seco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C9DEF7-5E09-88C7-861A-FBBA8C43B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8164" y="138113"/>
            <a:ext cx="7513637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Scheduling Algorithm Optimization Criteria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66D9098-6F61-9594-AAD2-F905B1C50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2747" y="968562"/>
            <a:ext cx="8721818" cy="5557744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It is desirable to 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maximize CPU utilization and throughput</a:t>
            </a:r>
            <a:r>
              <a:rPr lang="en-US" altLang="en-US" dirty="0">
                <a:ea typeface="ＭＳ Ｐゴシック" panose="020B0600070205080204" pitchFamily="34" charset="-128"/>
              </a:rPr>
              <a:t> and to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minimize turnaround time, waiting time, and response time</a:t>
            </a:r>
            <a:r>
              <a:rPr lang="en-US" altLang="en-US" dirty="0"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Maximize CPU utilization</a:t>
            </a:r>
          </a:p>
          <a:p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Maximize throughput</a:t>
            </a:r>
          </a:p>
          <a:p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Minimize turnaround time </a:t>
            </a:r>
          </a:p>
          <a:p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Minimize waiting time </a:t>
            </a:r>
          </a:p>
          <a:p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Minimize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1529-5640-99CE-DF3E-94561391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Scheduling Algorithms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1985-31D1-D41C-E4A3-45A5496F6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8" y="930557"/>
            <a:ext cx="11734800" cy="5855725"/>
          </a:xfrm>
        </p:spPr>
        <p:txBody>
          <a:bodyPr/>
          <a:lstStyle/>
          <a:p>
            <a:r>
              <a:rPr lang="en-US" sz="3200" dirty="0"/>
              <a:t>CPU scheduling deals with the problem of deciding which of the processes in the ready queue is to be allocated the CPU. There are many different CPU-scheduling algorithms.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First-Come, First-Served (FCFS)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Shortest-Job-First (SJF)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Priority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Round Robin (RR)</a:t>
            </a:r>
          </a:p>
          <a:p>
            <a:endParaRPr lang="en-US" sz="4400" b="1" dirty="0">
              <a:solidFill>
                <a:srgbClr val="00669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413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219D4-C42A-4900-3A77-93453543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FCFS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E5FF6-0CFE-FA52-BDF1-31CD63881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89" y="854075"/>
            <a:ext cx="11833411" cy="6003925"/>
          </a:xfrm>
        </p:spPr>
        <p:txBody>
          <a:bodyPr/>
          <a:lstStyle/>
          <a:p>
            <a:r>
              <a:rPr lang="en-US" sz="2200" dirty="0"/>
              <a:t>It assigns CPU to the process that comes first. </a:t>
            </a:r>
            <a:r>
              <a:rPr lang="en-US" sz="2200" dirty="0">
                <a:solidFill>
                  <a:srgbClr val="FF0000"/>
                </a:solidFill>
              </a:rPr>
              <a:t>Non-Preemptive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First come, first served (FCFS), is the simplest scheduling algorithm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FCFS simply queues processes in the order that they arrive in the ready queue. </a:t>
            </a:r>
          </a:p>
          <a:p>
            <a:r>
              <a:rPr lang="en-US" sz="2200" b="1" dirty="0"/>
              <a:t>FCFS Rules</a:t>
            </a:r>
          </a:p>
          <a:p>
            <a:r>
              <a:rPr lang="en-US" sz="2200" b="1" dirty="0"/>
              <a:t>Without Arrival Time (or all arrival times = 0) </a:t>
            </a:r>
            <a:r>
              <a:rPr lang="en-US" altLang="en-US" sz="2200" dirty="0">
                <a:ea typeface="ＭＳ Ｐゴシック" panose="020B0600070205080204" pitchFamily="34" charset="-128"/>
              </a:rPr>
              <a:t>In this, the process that comes first will be executed first and next process starts only after the previous gets fully execute. </a:t>
            </a:r>
          </a:p>
          <a:p>
            <a:r>
              <a:rPr lang="en-US" sz="2200" b="1" dirty="0"/>
              <a:t>With Arrival Time :</a:t>
            </a:r>
          </a:p>
          <a:p>
            <a:pPr lvl="1"/>
            <a:r>
              <a:rPr lang="en-US" sz="2200" b="1" dirty="0"/>
              <a:t>Rule 1 : </a:t>
            </a:r>
            <a:r>
              <a:rPr lang="en-US" sz="2200" dirty="0"/>
              <a:t>If arrival times are different ,the process with the smaller arrival time</a:t>
            </a:r>
            <a:br>
              <a:rPr lang="en-US" sz="2200" dirty="0"/>
            </a:br>
            <a:r>
              <a:rPr lang="en-US" sz="2200" dirty="0"/>
              <a:t>will be executed first. </a:t>
            </a:r>
          </a:p>
          <a:p>
            <a:pPr lvl="1"/>
            <a:r>
              <a:rPr lang="en-US" sz="2200" b="1" dirty="0"/>
              <a:t>Rule 2 </a:t>
            </a:r>
            <a:r>
              <a:rPr lang="en-US" sz="2200" dirty="0"/>
              <a:t>: If two or more processes arrive at the same time, the process that enters the ready queue first will be executed first.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2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Advantages of FCFS</a:t>
            </a:r>
          </a:p>
          <a:p>
            <a:pPr lvl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2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Simple and easy to implement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85178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1C7D-3B00-D0D1-2F9C-BF5B9214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FCFS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6CDB-6263-11F5-8AA1-7DBDAF810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21" y="919724"/>
            <a:ext cx="10972800" cy="585759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Disadvantages of FCFS:</a:t>
            </a:r>
          </a:p>
          <a:p>
            <a:r>
              <a:rPr lang="en-US" sz="2000" dirty="0"/>
              <a:t>The scheduling method is </a:t>
            </a:r>
            <a:r>
              <a:rPr lang="en-US" sz="2000" dirty="0">
                <a:solidFill>
                  <a:srgbClr val="C00000"/>
                </a:solidFill>
              </a:rPr>
              <a:t>non preemptive</a:t>
            </a:r>
            <a:r>
              <a:rPr lang="en-US" sz="2000" dirty="0"/>
              <a:t>, the process will run to the completion.</a:t>
            </a:r>
          </a:p>
          <a:p>
            <a:r>
              <a:rPr lang="en-US" sz="2000" dirty="0"/>
              <a:t>Due to the non-preemptive nature of the algorithm, the problem of </a:t>
            </a:r>
            <a:r>
              <a:rPr lang="en-US" sz="2000" dirty="0">
                <a:solidFill>
                  <a:srgbClr val="C00000"/>
                </a:solidFill>
              </a:rPr>
              <a:t>starvation</a:t>
            </a:r>
            <a:r>
              <a:rPr lang="en-US" sz="2000" dirty="0"/>
              <a:t> may occur.</a:t>
            </a:r>
          </a:p>
          <a:p>
            <a:r>
              <a:rPr lang="en-US" sz="2000" b="1" dirty="0"/>
              <a:t>What is Starvation</a:t>
            </a:r>
            <a:r>
              <a:rPr lang="en-US" sz="2000" dirty="0"/>
              <a:t>? Starvation means , A process waits for very long time</a:t>
            </a:r>
            <a:br>
              <a:rPr lang="en-US" sz="2000" dirty="0"/>
            </a:br>
            <a:r>
              <a:rPr lang="en-US" sz="2000" dirty="0"/>
              <a:t>or forever.</a:t>
            </a:r>
          </a:p>
          <a:p>
            <a:r>
              <a:rPr lang="en-US" sz="2000" b="1" dirty="0"/>
              <a:t>Important Note</a:t>
            </a:r>
          </a:p>
          <a:p>
            <a:pPr lvl="1"/>
            <a:r>
              <a:rPr lang="en-US" sz="2000" dirty="0"/>
              <a:t>Starvation usually happens in:</a:t>
            </a:r>
          </a:p>
          <a:p>
            <a:pPr lvl="2"/>
            <a:r>
              <a:rPr lang="en-US" sz="2000" dirty="0"/>
              <a:t>Priority Scheduling </a:t>
            </a:r>
          </a:p>
          <a:p>
            <a:pPr lvl="2"/>
            <a:r>
              <a:rPr lang="en-US" sz="2000" dirty="0"/>
              <a:t>SJF (sometimes) </a:t>
            </a:r>
          </a:p>
          <a:p>
            <a:pPr lvl="1"/>
            <a:r>
              <a:rPr lang="en-US" sz="2000" dirty="0"/>
              <a:t>NOT commonly in FCFS.</a:t>
            </a:r>
          </a:p>
          <a:p>
            <a:pPr lvl="1"/>
            <a:r>
              <a:rPr lang="en-US" sz="2000" dirty="0"/>
              <a:t>Because in FCFS:</a:t>
            </a:r>
          </a:p>
          <a:p>
            <a:pPr lvl="2"/>
            <a:r>
              <a:rPr lang="en-US" sz="2000" dirty="0"/>
              <a:t>every process eventually gets CPU in queue order.</a:t>
            </a:r>
          </a:p>
          <a:p>
            <a:r>
              <a:rPr lang="en-US" sz="2000" dirty="0"/>
              <a:t>Although it is easy to implement, but it is </a:t>
            </a:r>
            <a:r>
              <a:rPr lang="en-US" sz="2000" dirty="0">
                <a:solidFill>
                  <a:srgbClr val="C00000"/>
                </a:solidFill>
              </a:rPr>
              <a:t>poor in performance</a:t>
            </a:r>
            <a:r>
              <a:rPr lang="en-US" sz="2000" dirty="0"/>
              <a:t> since the average waiting time is higher as compared to other scheduling algorithms.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9740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247A-0369-4311-58F8-F89BBD84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698284"/>
            <a:ext cx="8229600" cy="57626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FCFS Scheduling-traditional method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Formula calculation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818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0495-D9E5-69B8-B94A-B7A64991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FCFS Scheduling-traditional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8B6D9-64A6-4EEB-5C4B-1B58077AE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497" y="946617"/>
            <a:ext cx="8794750" cy="584863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b="1" dirty="0"/>
              <a:t>Without Arrival Time (or all arrival times = 0)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Input the processes along with their burst time (</a:t>
            </a:r>
            <a:r>
              <a:rPr lang="en-US" altLang="en-US" dirty="0" err="1">
                <a:ea typeface="ＭＳ Ｐゴシック" panose="020B0600070205080204" pitchFamily="34" charset="-128"/>
              </a:rPr>
              <a:t>bt</a:t>
            </a:r>
            <a:r>
              <a:rPr lang="en-US" altLang="en-US" dirty="0">
                <a:ea typeface="ＭＳ Ｐゴシック" panose="020B0600070205080204" pitchFamily="34" charset="-128"/>
              </a:rPr>
              <a:t>).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Find waiting time (</a:t>
            </a:r>
            <a:r>
              <a:rPr lang="en-US" altLang="en-US" dirty="0" err="1">
                <a:ea typeface="ＭＳ Ｐゴシック" panose="020B0600070205080204" pitchFamily="34" charset="-128"/>
              </a:rPr>
              <a:t>wt</a:t>
            </a:r>
            <a:r>
              <a:rPr lang="en-US" altLang="en-US" dirty="0">
                <a:ea typeface="ＭＳ Ｐゴシック" panose="020B0600070205080204" pitchFamily="34" charset="-128"/>
              </a:rPr>
              <a:t>) for all processes.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First process need not to wait so waiting time for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first process will be 0</a:t>
            </a:r>
            <a:r>
              <a:rPr lang="en-US" altLang="en-US" dirty="0"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Waiting time for each other processes i.e. for process i:</a:t>
            </a: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       </a:t>
            </a:r>
            <a:r>
              <a:rPr lang="en-US" altLang="en-US" dirty="0" err="1">
                <a:ea typeface="ＭＳ Ｐゴシック" panose="020B0600070205080204" pitchFamily="34" charset="-128"/>
              </a:rPr>
              <a:t>wt</a:t>
            </a:r>
            <a:r>
              <a:rPr lang="en-US" altLang="en-US" dirty="0">
                <a:ea typeface="ＭＳ Ｐゴシック" panose="020B0600070205080204" pitchFamily="34" charset="-128"/>
              </a:rPr>
              <a:t>[</a:t>
            </a:r>
            <a:r>
              <a:rPr lang="en-US" altLang="en-US" dirty="0" err="1">
                <a:ea typeface="ＭＳ Ｐゴシック" panose="020B0600070205080204" pitchFamily="34" charset="-128"/>
              </a:rPr>
              <a:t>i</a:t>
            </a:r>
            <a:r>
              <a:rPr lang="en-US" altLang="en-US" dirty="0">
                <a:ea typeface="ＭＳ Ｐゴシック" panose="020B0600070205080204" pitchFamily="34" charset="-128"/>
              </a:rPr>
              <a:t>]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=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bt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[i-1] + </a:t>
            </a:r>
            <a:r>
              <a:rPr lang="en-US" altLang="en-US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wt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[i-1] </a:t>
            </a:r>
            <a:r>
              <a:rPr lang="en-US" altLang="en-US" dirty="0">
                <a:ea typeface="ＭＳ Ｐゴシック" panose="020B0600070205080204" pitchFamily="34" charset="-128"/>
              </a:rPr>
              <a:t>or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      </a:t>
            </a:r>
            <a:r>
              <a:rPr lang="en-US" dirty="0" err="1"/>
              <a:t>wt</a:t>
            </a:r>
            <a:r>
              <a:rPr lang="en-US" dirty="0"/>
              <a:t> =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tt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bt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b="1" dirty="0"/>
              <a:t>previous burst time + previous waiting time</a:t>
            </a:r>
            <a:endParaRPr lang="en-US" altLang="en-US" b="1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000" dirty="0">
                <a:ea typeface="ＭＳ Ｐゴシック" panose="020B0600070205080204" pitchFamily="34" charset="-128"/>
              </a:rPr>
              <a:t>Turnaround time (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tt</a:t>
            </a:r>
            <a:r>
              <a:rPr lang="en-US" altLang="en-US" sz="2000" dirty="0">
                <a:ea typeface="ＭＳ Ｐゴシック" panose="020B0600070205080204" pitchFamily="34" charset="-128"/>
              </a:rPr>
              <a:t>) for each processes:</a:t>
            </a:r>
          </a:p>
          <a:p>
            <a:pPr marL="0" indent="0" algn="ctr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Turnaround time =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bt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+ </a:t>
            </a:r>
            <a:r>
              <a:rPr lang="en-US" altLang="en-US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wt</a:t>
            </a:r>
            <a:endParaRPr lang="en-US" altLang="en-US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000" dirty="0">
                <a:ea typeface="ＭＳ Ｐゴシック" panose="020B0600070205080204" pitchFamily="34" charset="-128"/>
              </a:rPr>
              <a:t>Average waiting time = </a:t>
            </a:r>
          </a:p>
          <a:p>
            <a:pPr marL="0" indent="0" algn="ctr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total_waiting_time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/ </a:t>
            </a: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no_of_processes</a:t>
            </a:r>
            <a:endParaRPr lang="en-US" altLang="en-US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000" dirty="0">
                <a:ea typeface="ＭＳ Ｐゴシック" panose="020B0600070205080204" pitchFamily="34" charset="-128"/>
              </a:rPr>
              <a:t>Similarly, average turnaround time =</a:t>
            </a:r>
          </a:p>
          <a:p>
            <a:pPr marL="0" indent="0" algn="ctr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total_turn_around_time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/ </a:t>
            </a: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no_of_processes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endParaRPr lang="nn-NO" dirty="0">
              <a:solidFill>
                <a:srgbClr val="0070C0"/>
              </a:solidFill>
            </a:endParaRP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endParaRPr lang="nn-NO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2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C13C-1C33-F684-42A4-0063A259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88F9-0D0F-5C68-2FA7-BB045361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FCFS Scheduling-traditional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0111A-DDF4-7D3C-CB85-9FD946CCD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497" y="946617"/>
            <a:ext cx="8794750" cy="5848630"/>
          </a:xfrm>
        </p:spPr>
        <p:txBody>
          <a:bodyPr/>
          <a:lstStyle/>
          <a:p>
            <a:r>
              <a:rPr lang="en-US" b="1" dirty="0"/>
              <a:t>With Arrival Time :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Input the processes along with their burst time (</a:t>
            </a:r>
            <a:r>
              <a:rPr lang="en-US" altLang="en-US" dirty="0" err="1">
                <a:ea typeface="ＭＳ Ｐゴシック" panose="020B0600070205080204" pitchFamily="34" charset="-128"/>
              </a:rPr>
              <a:t>bt</a:t>
            </a:r>
            <a:r>
              <a:rPr lang="en-US" altLang="en-US" dirty="0">
                <a:ea typeface="ＭＳ Ｐゴシック" panose="020B0600070205080204" pitchFamily="34" charset="-128"/>
              </a:rPr>
              <a:t>).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Find waiting time (</a:t>
            </a:r>
            <a:r>
              <a:rPr lang="en-US" altLang="en-US" dirty="0" err="1">
                <a:ea typeface="ＭＳ Ｐゴシック" panose="020B0600070205080204" pitchFamily="34" charset="-128"/>
              </a:rPr>
              <a:t>wt</a:t>
            </a:r>
            <a:r>
              <a:rPr lang="en-US" altLang="en-US" dirty="0">
                <a:ea typeface="ＭＳ Ｐゴシック" panose="020B0600070205080204" pitchFamily="34" charset="-128"/>
              </a:rPr>
              <a:t>) for all processes.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Sorted by using with arrival time first process is lowest process of arrival time is the first 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Waiting time for each other processes i.e. for process i:</a:t>
            </a:r>
          </a:p>
          <a:p>
            <a:pPr lvl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If arrival time (at) provided, then:</a:t>
            </a: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nn-NO" dirty="0"/>
              <a:t>	wt = </a:t>
            </a:r>
            <a:r>
              <a:rPr lang="nn-NO" dirty="0">
                <a:solidFill>
                  <a:srgbClr val="0070C0"/>
                </a:solidFill>
              </a:rPr>
              <a:t>starting time (st) – at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000" dirty="0">
                <a:ea typeface="ＭＳ Ｐゴシック" panose="020B0600070205080204" pitchFamily="34" charset="-128"/>
              </a:rPr>
              <a:t>If arrival time (at) provided, then:</a:t>
            </a:r>
            <a:endParaRPr lang="en-US" sz="2000" b="1" dirty="0">
              <a:solidFill>
                <a:srgbClr val="0070C0"/>
              </a:solidFill>
            </a:endParaRPr>
          </a:p>
          <a:p>
            <a:pPr marL="0" indent="0" algn="ctr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sz="2000" dirty="0"/>
              <a:t>Turnaround time = </a:t>
            </a:r>
            <a:r>
              <a:rPr lang="en-US" sz="2000" dirty="0">
                <a:solidFill>
                  <a:srgbClr val="0070C0"/>
                </a:solidFill>
              </a:rPr>
              <a:t>completion time (</a:t>
            </a:r>
            <a:r>
              <a:rPr lang="en-US" sz="2000" dirty="0" err="1">
                <a:solidFill>
                  <a:srgbClr val="0070C0"/>
                </a:solidFill>
              </a:rPr>
              <a:t>ct</a:t>
            </a:r>
            <a:r>
              <a:rPr lang="en-US" sz="2000" dirty="0">
                <a:solidFill>
                  <a:srgbClr val="0070C0"/>
                </a:solidFill>
              </a:rPr>
              <a:t>) - at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000" dirty="0">
                <a:ea typeface="ＭＳ Ｐゴシック" panose="020B0600070205080204" pitchFamily="34" charset="-128"/>
              </a:rPr>
              <a:t>Average waiting time = </a:t>
            </a:r>
          </a:p>
          <a:p>
            <a:pPr marL="0" indent="0" algn="ctr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total_waiting_time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/ </a:t>
            </a: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no_of_processes</a:t>
            </a:r>
            <a:endParaRPr lang="en-US" altLang="en-US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000" dirty="0">
                <a:ea typeface="ＭＳ Ｐゴシック" panose="020B0600070205080204" pitchFamily="34" charset="-128"/>
              </a:rPr>
              <a:t>Similarly, average turnaround time =</a:t>
            </a:r>
          </a:p>
          <a:p>
            <a:pPr marL="0" indent="0" algn="ctr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total_turn_around_time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/ </a:t>
            </a:r>
            <a:r>
              <a:rPr lang="en-US" altLang="en-US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no_of_processes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endParaRPr lang="nn-NO" dirty="0">
              <a:solidFill>
                <a:srgbClr val="0070C0"/>
              </a:solidFill>
            </a:endParaRPr>
          </a:p>
          <a:p>
            <a:pPr marL="0" indent="0"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endParaRPr lang="nn-NO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334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7A79-AD89-4A1E-2C09-7FBD6D74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24635"/>
            <a:ext cx="8229600" cy="1445746"/>
          </a:xfrm>
        </p:spPr>
        <p:txBody>
          <a:bodyPr/>
          <a:lstStyle/>
          <a:p>
            <a:r>
              <a:rPr lang="en-US" dirty="0"/>
              <a:t>Example of traditional method calculation </a:t>
            </a:r>
            <a:r>
              <a:rPr kumimoji="1" lang="en-US" dirty="0"/>
              <a:t>Without Arrival Time (or all arrival times = 0)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3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CF9CF6-04C2-B0D7-A4B6-43393D575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484" y="883024"/>
            <a:ext cx="8758517" cy="5822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	</a:t>
            </a:r>
            <a:r>
              <a:rPr lang="en-US" altLang="en-US" sz="2400" b="1" u="sng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Process</a:t>
            </a:r>
            <a:r>
              <a:rPr lang="en-US" altLang="en-US" sz="24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</a:t>
            </a:r>
            <a:r>
              <a:rPr lang="en-US" altLang="en-US" sz="2400" b="1" u="sng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Burst Time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	 </a:t>
            </a:r>
            <a:r>
              <a:rPr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1</a:t>
            </a: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24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	 </a:t>
            </a:r>
            <a:r>
              <a:rPr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</a:t>
            </a: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	3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	 </a:t>
            </a:r>
            <a:r>
              <a:rPr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3	 </a:t>
            </a: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3</a:t>
            </a:r>
            <a: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Suppose that the processes arrive in the order: </a:t>
            </a:r>
            <a:r>
              <a:rPr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1</a:t>
            </a: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, </a:t>
            </a:r>
            <a:r>
              <a:rPr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</a:t>
            </a: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, </a:t>
            </a:r>
            <a:r>
              <a:rPr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3  </a:t>
            </a:r>
            <a:br>
              <a:rPr lang="en-US" altLang="en-US" sz="24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</a:b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The Gantt Chart for the schedule is:</a:t>
            </a:r>
            <a:b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</a:br>
            <a:b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</a:br>
            <a:b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</a:br>
            <a:endParaRPr lang="en-US" altLang="en-US" sz="24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tabLst>
                <a:tab pos="3032125" algn="ctr"/>
                <a:tab pos="4635500" algn="ctr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Waiting time </a:t>
            </a:r>
            <a:endParaRPr lang="en-US" altLang="en-US" sz="14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tabLst>
                <a:tab pos="3032125" algn="ctr"/>
                <a:tab pos="4635500" algn="ctr"/>
              </a:tabLst>
            </a:pPr>
            <a:r>
              <a:rPr lang="en-US" altLang="en-US" sz="16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P1 is first →</a:t>
            </a:r>
          </a:p>
          <a:p>
            <a:pPr lvl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16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wt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[0] = 0 (first process never waits)</a:t>
            </a:r>
          </a:p>
          <a:p>
            <a:pPr>
              <a:lnSpc>
                <a:spcPct val="90000"/>
              </a:lnSpc>
              <a:buFont typeface="+mj-lt"/>
              <a:buAutoNum type="arabicPeriod"/>
              <a:tabLst>
                <a:tab pos="3032125" algn="ctr"/>
                <a:tab pos="4635500" algn="ctr"/>
              </a:tabLst>
            </a:pPr>
            <a:r>
              <a:rPr lang="en-US" altLang="en-US" sz="16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P2 →</a:t>
            </a:r>
          </a:p>
          <a:p>
            <a:pPr lvl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16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wt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[1] = </a:t>
            </a:r>
            <a:r>
              <a:rPr lang="en-US" altLang="en-US" sz="16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bt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[0] + </a:t>
            </a:r>
            <a:r>
              <a:rPr lang="en-US" altLang="en-US" sz="16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wt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[0] = </a:t>
            </a:r>
            <a:r>
              <a:rPr lang="en-US" altLang="en-US" sz="1600" dirty="0">
                <a:solidFill>
                  <a:srgbClr val="0070C0"/>
                </a:solidFill>
                <a:latin typeface="Helvetica"/>
                <a:ea typeface="ＭＳ Ｐゴシック" panose="020B0600070205080204" pitchFamily="34" charset="-128"/>
              </a:rPr>
              <a:t>24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+</a:t>
            </a:r>
            <a:r>
              <a:rPr lang="en-US" altLang="en-US" sz="1600" dirty="0">
                <a:solidFill>
                  <a:srgbClr val="C00000"/>
                </a:solidFill>
                <a:latin typeface="Helvetica"/>
                <a:ea typeface="ＭＳ Ｐゴシック" panose="020B0600070205080204" pitchFamily="34" charset="-128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=</a:t>
            </a:r>
            <a:r>
              <a:rPr lang="en-US" altLang="en-US" sz="1600" b="1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24</a:t>
            </a:r>
            <a:endParaRPr lang="en-US" altLang="en-US" sz="16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tabLst>
                <a:tab pos="3032125" algn="ctr"/>
                <a:tab pos="4635500" algn="ctr"/>
              </a:tabLst>
            </a:pPr>
            <a:r>
              <a:rPr lang="en-US" altLang="en-US" sz="16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P3 →</a:t>
            </a:r>
          </a:p>
          <a:p>
            <a:pPr lvl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 sz="16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wt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[2] = </a:t>
            </a:r>
            <a:r>
              <a:rPr lang="en-US" altLang="en-US" sz="16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bt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[1] + </a:t>
            </a:r>
            <a:r>
              <a:rPr lang="en-US" altLang="en-US" sz="16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wt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[1] = </a:t>
            </a:r>
            <a:r>
              <a:rPr lang="en-US" altLang="en-US" sz="1600" dirty="0">
                <a:solidFill>
                  <a:srgbClr val="0070C0"/>
                </a:solidFill>
                <a:latin typeface="Helvetica"/>
                <a:ea typeface="ＭＳ Ｐゴシック" panose="020B0600070205080204" pitchFamily="34" charset="-128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+</a:t>
            </a:r>
            <a:r>
              <a:rPr lang="en-US" altLang="en-US" sz="1600" dirty="0">
                <a:solidFill>
                  <a:srgbClr val="C00000"/>
                </a:solidFill>
                <a:latin typeface="Helvetica"/>
                <a:ea typeface="ＭＳ Ｐゴシック" panose="020B0600070205080204" pitchFamily="34" charset="-128"/>
              </a:rPr>
              <a:t>24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=</a:t>
            </a:r>
            <a:r>
              <a:rPr lang="en-US" altLang="en-US" sz="1600" b="1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27</a:t>
            </a:r>
            <a:endParaRPr lang="en-US" altLang="en-US" sz="16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endParaRPr lang="en-US" altLang="en-US" sz="24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7D37B8-A7C2-1ABC-F57C-EBB213A6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835" y="154362"/>
            <a:ext cx="7897906" cy="576262"/>
          </a:xfrm>
        </p:spPr>
        <p:txBody>
          <a:bodyPr/>
          <a:lstStyle/>
          <a:p>
            <a:r>
              <a:rPr kumimoji="1" lang="en-US" sz="2800" dirty="0"/>
              <a:t>Without Arrival Time (or all arrival times = 0) </a:t>
            </a:r>
            <a:endParaRPr lang="en-US" sz="2800" dirty="0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C77E89BC-C9E1-95DC-E91F-BF070B0CC60F}"/>
              </a:ext>
            </a:extLst>
          </p:cNvPr>
          <p:cNvGrpSpPr>
            <a:grpSpLocks/>
          </p:cNvGrpSpPr>
          <p:nvPr/>
        </p:nvGrpSpPr>
        <p:grpSpPr bwMode="auto">
          <a:xfrm>
            <a:off x="3317875" y="3507443"/>
            <a:ext cx="5556250" cy="1128713"/>
            <a:chOff x="856" y="2688"/>
            <a:chExt cx="3500" cy="711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E2453549-3883-8416-A569-9D98E90B0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0" lang="en-US" altLang="en-US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4229FDF2-097E-C8A0-F518-08CE5BEFB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>
                  <a:solidFill>
                    <a:srgbClr val="000000"/>
                  </a:solidFill>
                </a:rPr>
                <a:t>1</a:t>
              </a:r>
              <a:endParaRPr kumimoji="0"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0AB47CDA-E597-E4EE-2698-A9AA01D65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>
                  <a:solidFill>
                    <a:srgbClr val="000000"/>
                  </a:solidFill>
                </a:rPr>
                <a:t>2</a:t>
              </a:r>
              <a:endParaRPr kumimoji="0"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B2156EC2-38D3-DE5B-BE7B-09BDA9523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>
                  <a:solidFill>
                    <a:srgbClr val="000000"/>
                  </a:solidFill>
                </a:rPr>
                <a:t>3</a:t>
              </a:r>
              <a:endParaRPr kumimoji="0"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4CF19963-ADB5-BD83-5101-FDC50E86B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58DB08D9-B48A-00C7-E942-9B29087E2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19F6A693-AD43-71FE-5C9B-F50E35A2B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C5A98FE0-5F87-8F28-5CD8-D6187E475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ACDB6276-CFD0-7199-C25D-26EABF968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C53C8305-4B86-0D8D-23E1-BDA849414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AF475DAA-4FE3-CBFB-F116-0C4153B85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00"/>
                  </a:solidFill>
                </a:rPr>
                <a:t>24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69406D71-C2FC-71C6-EA5B-8DF2CEDDB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00"/>
                  </a:solidFill>
                </a:rPr>
                <a:t>27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0CD3168F-C513-28BD-91E5-4E1AECF7D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00"/>
                  </a:solidFill>
                </a:rPr>
                <a:t>30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B09205E9-78C5-F0B2-E6B8-E103A91A7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" y="31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157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17BA-9CA7-D74C-EFC9-62C39B72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sz="2800" dirty="0"/>
              <a:t>Without Arrival Time (or all arrival times = 0) 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E95D9-F093-952C-4179-AEEFB81EBE52}"/>
              </a:ext>
            </a:extLst>
          </p:cNvPr>
          <p:cNvSpPr txBox="1"/>
          <p:nvPr/>
        </p:nvSpPr>
        <p:spPr>
          <a:xfrm>
            <a:off x="1853453" y="1188058"/>
            <a:ext cx="8724900" cy="425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Turnaround time for  </a:t>
            </a:r>
            <a:r>
              <a:rPr lang="en-US" altLang="en-US" sz="2800" dirty="0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Turnaround time = </a:t>
            </a:r>
            <a:r>
              <a:rPr lang="en-US" altLang="en-US" sz="2800" dirty="0" err="1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bt</a:t>
            </a:r>
            <a:r>
              <a:rPr lang="en-US" altLang="en-US" sz="2800" dirty="0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+ </a:t>
            </a:r>
            <a:r>
              <a:rPr lang="en-US" altLang="en-US" sz="2800" dirty="0" err="1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wt</a:t>
            </a:r>
            <a:endParaRPr kumimoji="1" lang="en-US" altLang="en-US" sz="28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 lvl="1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tabLst>
                <a:tab pos="3032125" algn="ctr"/>
                <a:tab pos="4635500" algn="ctr"/>
              </a:tabLst>
              <a:defRPr/>
            </a:pPr>
            <a:r>
              <a:rPr kumimoji="1"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kumimoji="1" lang="en-US" altLang="en-US" sz="28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1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= </a:t>
            </a:r>
            <a:r>
              <a:rPr kumimoji="1" lang="en-US" altLang="en-US" sz="2800" kern="0" dirty="0">
                <a:solidFill>
                  <a:srgbClr val="0070C0"/>
                </a:solidFill>
                <a:latin typeface="Helvetica"/>
                <a:ea typeface="ＭＳ Ｐゴシック" panose="020B0600070205080204" pitchFamily="34" charset="-128"/>
              </a:rPr>
              <a:t>24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+</a:t>
            </a:r>
            <a:r>
              <a:rPr kumimoji="1" lang="en-US" altLang="en-US" sz="2800" kern="0" dirty="0">
                <a:solidFill>
                  <a:srgbClr val="C00000"/>
                </a:solidFill>
                <a:latin typeface="Helvetica"/>
                <a:ea typeface="ＭＳ Ｐゴシック" panose="020B0600070205080204" pitchFamily="34" charset="-128"/>
              </a:rPr>
              <a:t>0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= </a:t>
            </a:r>
            <a:r>
              <a:rPr kumimoji="1" lang="en-US" altLang="en-US" sz="28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24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, </a:t>
            </a:r>
            <a:r>
              <a:rPr kumimoji="1"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kumimoji="1" lang="en-US" altLang="en-US" sz="28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= </a:t>
            </a:r>
            <a:r>
              <a:rPr kumimoji="1" lang="en-US" altLang="en-US" sz="2800" kern="0" dirty="0">
                <a:solidFill>
                  <a:srgbClr val="0070C0"/>
                </a:solidFill>
                <a:latin typeface="Helvetica"/>
                <a:ea typeface="ＭＳ Ｐゴシック" panose="020B0600070205080204" pitchFamily="34" charset="-128"/>
              </a:rPr>
              <a:t>3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+</a:t>
            </a:r>
            <a:r>
              <a:rPr kumimoji="1" lang="en-US" altLang="en-US" sz="2800" kern="0" dirty="0">
                <a:solidFill>
                  <a:srgbClr val="C00000"/>
                </a:solidFill>
                <a:latin typeface="Helvetica"/>
                <a:ea typeface="ＭＳ Ｐゴシック" panose="020B0600070205080204" pitchFamily="34" charset="-128"/>
              </a:rPr>
              <a:t>24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= </a:t>
            </a:r>
            <a:r>
              <a:rPr kumimoji="1" lang="en-US" altLang="en-US" sz="28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27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, </a:t>
            </a:r>
            <a:r>
              <a:rPr kumimoji="1" lang="en-US" altLang="en-US" sz="24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kumimoji="1" lang="en-US" altLang="en-US" sz="28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3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= </a:t>
            </a:r>
            <a:r>
              <a:rPr kumimoji="1" lang="en-US" altLang="en-US" sz="2800" kern="0" dirty="0">
                <a:solidFill>
                  <a:srgbClr val="0070C0"/>
                </a:solidFill>
                <a:latin typeface="Helvetica"/>
                <a:ea typeface="ＭＳ Ｐゴシック" panose="020B0600070205080204" pitchFamily="34" charset="-128"/>
              </a:rPr>
              <a:t>3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+</a:t>
            </a:r>
            <a:r>
              <a:rPr kumimoji="1" lang="en-US" altLang="en-US" sz="2800" kern="0" dirty="0">
                <a:solidFill>
                  <a:srgbClr val="C00000"/>
                </a:solidFill>
                <a:latin typeface="Helvetica"/>
                <a:ea typeface="ＭＳ Ｐゴシック" panose="020B0600070205080204" pitchFamily="34" charset="-128"/>
              </a:rPr>
              <a:t>27</a:t>
            </a: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= </a:t>
            </a:r>
            <a:r>
              <a:rPr kumimoji="1" lang="en-US" altLang="en-US" sz="28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30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Average waiting time: </a:t>
            </a:r>
          </a:p>
          <a:p>
            <a:pPr lvl="1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tabLst>
                <a:tab pos="3032125" algn="ctr"/>
                <a:tab pos="4635500" algn="ctr"/>
              </a:tabLst>
              <a:defRPr/>
            </a:pPr>
            <a:r>
              <a:rPr lang="en-US" altLang="en-US" sz="2800" dirty="0" err="1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total_waiting_time</a:t>
            </a:r>
            <a:r>
              <a:rPr lang="en-US" altLang="en-US" sz="2800" dirty="0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/ </a:t>
            </a:r>
            <a:r>
              <a:rPr lang="en-US" altLang="en-US" sz="2800" dirty="0" err="1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no_of_processes</a:t>
            </a:r>
            <a:endParaRPr kumimoji="1" lang="en-US" altLang="en-US" sz="28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 lvl="1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tabLst>
                <a:tab pos="3032125" algn="ctr"/>
                <a:tab pos="4635500" algn="ctr"/>
              </a:tabLst>
              <a:defRPr/>
            </a:pP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(0 + 24 + 27) / 3 = 51/3 = </a:t>
            </a:r>
            <a:r>
              <a:rPr kumimoji="1" lang="en-US" altLang="en-US" sz="28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17 </a:t>
            </a:r>
            <a:r>
              <a:rPr kumimoji="1" lang="en-US" altLang="en-US" sz="2800" b="1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ms</a:t>
            </a:r>
            <a:r>
              <a:rPr kumimoji="1" lang="en-US" altLang="en-US" sz="2800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.</a:t>
            </a:r>
            <a:endParaRPr kumimoji="1" lang="en-US" altLang="en-US" sz="28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Average turnaround time </a:t>
            </a:r>
          </a:p>
          <a:p>
            <a:pPr lvl="1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tabLst>
                <a:tab pos="3032125" algn="ctr"/>
                <a:tab pos="4635500" algn="ctr"/>
              </a:tabLst>
              <a:defRPr/>
            </a:pPr>
            <a:r>
              <a:rPr lang="en-US" altLang="en-US" sz="2800" dirty="0" err="1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total_waiting_time</a:t>
            </a:r>
            <a:r>
              <a:rPr lang="en-US" altLang="en-US" sz="2800" dirty="0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/ </a:t>
            </a:r>
            <a:r>
              <a:rPr lang="en-US" altLang="en-US" sz="2800" dirty="0" err="1">
                <a:solidFill>
                  <a:srgbClr val="0070C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no_of_processes</a:t>
            </a:r>
            <a:endParaRPr kumimoji="1" lang="en-US" altLang="en-US" sz="28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tabLst>
                <a:tab pos="3032125" algn="ctr"/>
                <a:tab pos="4635500" algn="ctr"/>
              </a:tabLst>
              <a:defRPr/>
            </a:pPr>
            <a:r>
              <a:rPr kumimoji="1" lang="en-US" altLang="en-US" sz="28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= (24+27+30)/3 = 81/3 = </a:t>
            </a:r>
            <a:r>
              <a:rPr kumimoji="1" lang="en-US" altLang="en-US" sz="28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27 </a:t>
            </a:r>
            <a:r>
              <a:rPr kumimoji="1" lang="en-US" altLang="en-US" sz="2800" b="1" kern="0" dirty="0" err="1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ms</a:t>
            </a:r>
            <a:endParaRPr kumimoji="1" lang="en-US" altLang="en-US" sz="2800" b="1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1924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B2C9E3-2C4C-32D4-E92B-8DB42EE75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828800"/>
            <a:ext cx="8229600" cy="1445746"/>
          </a:xfrm>
        </p:spPr>
        <p:txBody>
          <a:bodyPr/>
          <a:lstStyle/>
          <a:p>
            <a:r>
              <a:rPr lang="en-US" dirty="0"/>
              <a:t>Example of traditional method calculation </a:t>
            </a:r>
            <a:r>
              <a:rPr kumimoji="1" lang="en-US" dirty="0"/>
              <a:t>With Arrival Time(Two Process is equal)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503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91DC5-614A-2D5D-4781-CF1B3B7E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EAD33B-C25D-7B33-0205-9BB1EBFC0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082" y="853138"/>
            <a:ext cx="8910918" cy="5822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</a:t>
            </a:r>
            <a:r>
              <a:rPr lang="en-US" altLang="en-US" sz="1600" b="1" u="sng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Process         </a:t>
            </a:r>
            <a:r>
              <a:rPr lang="en-US" altLang="en-US" sz="1600" b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             </a:t>
            </a:r>
            <a:r>
              <a:rPr lang="en-US" altLang="en-US" sz="1600" b="1" u="sng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Arrival Time                        Burst Time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</a:t>
            </a:r>
            <a:r>
              <a:rPr lang="en-US" altLang="en-US" sz="16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16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1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2		24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</a:t>
            </a:r>
            <a:r>
              <a:rPr lang="en-US" altLang="en-US" sz="16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16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2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	2		3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</a:t>
            </a:r>
            <a:r>
              <a:rPr lang="en-US" altLang="en-US" sz="1600" i="1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P</a:t>
            </a:r>
            <a:r>
              <a:rPr lang="en-US" altLang="en-US" sz="16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3	 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1</a:t>
            </a:r>
            <a:r>
              <a:rPr lang="en-US" altLang="en-US" sz="16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	</a:t>
            </a:r>
            <a:r>
              <a:rPr lang="en-US" altLang="en-US" sz="16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	3 </a:t>
            </a:r>
            <a:r>
              <a:rPr lang="en-US" altLang="en-US" sz="1600" i="1" kern="0" baseline="-2500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	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b="1" dirty="0">
                <a:solidFill>
                  <a:srgbClr val="FF0000"/>
                </a:solidFill>
                <a:latin typeface="Helvetica"/>
              </a:rPr>
              <a:t>Step 1 — Sort by Arrival Time  </a:t>
            </a:r>
            <a:r>
              <a:rPr lang="en-US" sz="1600" dirty="0">
                <a:solidFill>
                  <a:srgbClr val="000000"/>
                </a:solidFill>
                <a:latin typeface="Helvetica"/>
              </a:rPr>
              <a:t>Smallest arrival time executes first.</a:t>
            </a:r>
            <a:endParaRPr lang="en-US" sz="1600" b="1" dirty="0">
              <a:solidFill>
                <a:srgbClr val="FF0000"/>
              </a:solidFill>
              <a:latin typeface="Helvetica"/>
            </a:endParaRP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sz="1600" dirty="0">
                <a:solidFill>
                  <a:srgbClr val="000000"/>
                </a:solidFill>
                <a:latin typeface="Helvetica"/>
              </a:rPr>
              <a:t>	P3 arrives first (AT = 1)  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sz="1600" dirty="0">
                <a:solidFill>
                  <a:srgbClr val="000000"/>
                </a:solidFill>
                <a:latin typeface="Helvetica"/>
              </a:rPr>
              <a:t>	P1 and P2 both arrive at time 2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sz="1600" dirty="0">
                <a:solidFill>
                  <a:srgbClr val="000000"/>
                </a:solidFill>
                <a:latin typeface="Helvetica"/>
              </a:rPr>
              <a:t>	</a:t>
            </a:r>
            <a:r>
              <a:rPr lang="en-US" sz="1600" b="1" dirty="0">
                <a:solidFill>
                  <a:srgbClr val="000000"/>
                </a:solidFill>
                <a:latin typeface="Helvetica"/>
              </a:rPr>
              <a:t>Assume</a:t>
            </a:r>
            <a:r>
              <a:rPr lang="en-US" sz="1600" dirty="0">
                <a:solidFill>
                  <a:srgbClr val="000000"/>
                </a:solidFill>
                <a:latin typeface="Helvetica"/>
              </a:rPr>
              <a:t>  : P1 entered queue before P2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sz="1600" dirty="0">
                <a:solidFill>
                  <a:srgbClr val="000000"/>
                </a:solidFill>
                <a:latin typeface="Helvetica"/>
              </a:rPr>
              <a:t>	Execution order  P3 → P1 → P2</a:t>
            </a:r>
            <a:b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</a:br>
            <a: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Helvetica"/>
              </a:rPr>
              <a:t>Step 2 — Draw Gantt Chart</a:t>
            </a:r>
            <a:b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</a:br>
            <a:br>
              <a:rPr lang="en-US" altLang="en-US" sz="2400" kern="0" dirty="0">
                <a:solidFill>
                  <a:srgbClr val="000000"/>
                </a:solidFill>
                <a:latin typeface="Helvetica"/>
                <a:ea typeface="ＭＳ Ｐゴシック" panose="020B0600070205080204" pitchFamily="34" charset="-128"/>
              </a:rPr>
            </a:br>
            <a:endParaRPr lang="en-US" altLang="en-US" sz="24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endParaRPr lang="en-US" altLang="en-US" sz="2400" kern="0" dirty="0">
              <a:solidFill>
                <a:srgbClr val="000000"/>
              </a:solidFill>
              <a:latin typeface="Helvetica"/>
              <a:ea typeface="ＭＳ Ｐゴシック" panose="020B060007020508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29A1C8-EA80-4EA1-1530-F10CE601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23" y="152400"/>
            <a:ext cx="7897906" cy="576262"/>
          </a:xfrm>
        </p:spPr>
        <p:txBody>
          <a:bodyPr/>
          <a:lstStyle/>
          <a:p>
            <a:r>
              <a:rPr kumimoji="1" lang="en-US" sz="2800" dirty="0"/>
              <a:t>With Arrival Time(Two Process is equal)</a:t>
            </a:r>
            <a:endParaRPr lang="en-US" sz="2400" dirty="0"/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711E4834-206D-9D38-DFE3-33F2E3BD0106}"/>
              </a:ext>
            </a:extLst>
          </p:cNvPr>
          <p:cNvGrpSpPr>
            <a:grpSpLocks/>
          </p:cNvGrpSpPr>
          <p:nvPr/>
        </p:nvGrpSpPr>
        <p:grpSpPr bwMode="auto">
          <a:xfrm>
            <a:off x="3075231" y="4062070"/>
            <a:ext cx="4449385" cy="939974"/>
            <a:chOff x="829" y="2688"/>
            <a:chExt cx="3567" cy="741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84988A22-E774-5E7B-5F29-9D956200A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0" lang="en-US" altLang="en-US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902F290B-DAA4-C529-3028-4FC6C9CFC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3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22" name="Text Box 6">
              <a:extLst>
                <a:ext uri="{FF2B5EF4-FFF2-40B4-BE49-F238E27FC236}">
                  <a16:creationId xmlns:a16="http://schemas.microsoft.com/office/drawing/2014/main" id="{7EE5A6EF-594C-B47E-2CB4-0DDA9E058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1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id="{E276F6E3-D97A-CBB7-6B5A-07538F6A8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2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24" name="Line 8">
              <a:extLst>
                <a:ext uri="{FF2B5EF4-FFF2-40B4-BE49-F238E27FC236}">
                  <a16:creationId xmlns:a16="http://schemas.microsoft.com/office/drawing/2014/main" id="{283CD373-888B-017D-036A-E5B85FCA5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595E4544-96E8-5B0B-8ABC-9A939AB17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E1E37BBC-E35B-6E38-033C-20BC2E8D4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6D5FC2C0-0944-5E0C-27D4-0129A7AD3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B5A6525D-6E76-8A67-8016-5DAC876A5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E4CD8D7F-E0D3-FE65-6110-CE0DCAB96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B1762409-6801-DA38-9AC6-579424526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" y="3138"/>
              <a:ext cx="2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1" name="Text Box 15">
              <a:extLst>
                <a:ext uri="{FF2B5EF4-FFF2-40B4-BE49-F238E27FC236}">
                  <a16:creationId xmlns:a16="http://schemas.microsoft.com/office/drawing/2014/main" id="{EFCB7A45-B05D-ED73-F7F4-5F9F7366F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6" y="3138"/>
              <a:ext cx="3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28</a:t>
              </a:r>
            </a:p>
          </p:txBody>
        </p:sp>
        <p:sp>
          <p:nvSpPr>
            <p:cNvPr id="32" name="Text Box 16">
              <a:extLst>
                <a:ext uri="{FF2B5EF4-FFF2-40B4-BE49-F238E27FC236}">
                  <a16:creationId xmlns:a16="http://schemas.microsoft.com/office/drawing/2014/main" id="{D875D1FD-82E6-40F4-1E09-0D861825A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2" y="3138"/>
              <a:ext cx="3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31</a:t>
              </a:r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9B888C65-C4F3-4A81-B2D9-DF3674638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" y="3138"/>
              <a:ext cx="2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B08EFFD-73C6-56E4-190A-64C9459C2763}"/>
              </a:ext>
            </a:extLst>
          </p:cNvPr>
          <p:cNvSpPr txBox="1"/>
          <p:nvPr/>
        </p:nvSpPr>
        <p:spPr>
          <a:xfrm>
            <a:off x="2255716" y="4903264"/>
            <a:ext cx="460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Step</a:t>
            </a:r>
            <a:r>
              <a:rPr kumimoji="1" lang="en-US" sz="1600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 </a:t>
            </a:r>
            <a:r>
              <a:rPr kumimoji="1" lang="en-US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3</a:t>
            </a:r>
            <a:r>
              <a:rPr kumimoji="1" lang="en-US" sz="1600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 </a:t>
            </a:r>
            <a:r>
              <a:rPr kumimoji="1" lang="en-US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—</a:t>
            </a:r>
            <a:r>
              <a:rPr kumimoji="1" lang="en-US" sz="1600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 </a:t>
            </a:r>
            <a:r>
              <a:rPr kumimoji="1" lang="en-US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Find</a:t>
            </a:r>
            <a:r>
              <a:rPr kumimoji="1" lang="en-US" sz="1600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 </a:t>
            </a:r>
            <a:r>
              <a:rPr kumimoji="1" lang="en-US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Starting</a:t>
            </a:r>
            <a:r>
              <a:rPr kumimoji="1" lang="en-US" sz="1600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 </a:t>
            </a:r>
            <a:r>
              <a:rPr kumimoji="1" lang="en-US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Time</a:t>
            </a:r>
            <a:r>
              <a:rPr kumimoji="1" lang="en-US" sz="1600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 </a:t>
            </a:r>
            <a:r>
              <a:rPr kumimoji="1" lang="en-US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(ST</a:t>
            </a:r>
            <a:r>
              <a:rPr kumimoji="1" lang="en-US" sz="1600" b="1" dirty="0">
                <a:solidFill>
                  <a:srgbClr val="FF0000"/>
                </a:solidFill>
                <a:latin typeface="Helvetica"/>
                <a:ea typeface="MS PGothic" panose="020B0600070205080204" pitchFamily="34" charset="-128"/>
              </a:rPr>
              <a:t>)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53DC6EB-1682-F565-1E3A-080A577C4C16}"/>
              </a:ext>
            </a:extLst>
          </p:cNvPr>
          <p:cNvGraphicFramePr>
            <a:graphicFrameLocks noGrp="1"/>
          </p:cNvGraphicFramePr>
          <p:nvPr/>
        </p:nvGraphicFramePr>
        <p:xfrm>
          <a:off x="2318608" y="5365376"/>
          <a:ext cx="5239990" cy="1097280"/>
        </p:xfrm>
        <a:graphic>
          <a:graphicData uri="http://schemas.openxmlformats.org/drawingml/2006/table">
            <a:tbl>
              <a:tblPr firstRow="1" firstCol="1" bandRow="1" bandCol="1">
                <a:tableStyleId>{793D81CF-94F2-401A-BA57-92F5A7B2D0C5}</a:tableStyleId>
              </a:tblPr>
              <a:tblGrid>
                <a:gridCol w="2619995">
                  <a:extLst>
                    <a:ext uri="{9D8B030D-6E8A-4147-A177-3AD203B41FA5}">
                      <a16:colId xmlns:a16="http://schemas.microsoft.com/office/drawing/2014/main" val="1984982212"/>
                    </a:ext>
                  </a:extLst>
                </a:gridCol>
                <a:gridCol w="2619995">
                  <a:extLst>
                    <a:ext uri="{9D8B030D-6E8A-4147-A177-3AD203B41FA5}">
                      <a16:colId xmlns:a16="http://schemas.microsoft.com/office/drawing/2014/main" val="1507725201"/>
                    </a:ext>
                  </a:extLst>
                </a:gridCol>
              </a:tblGrid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273935"/>
                  </a:ext>
                </a:extLst>
              </a:tr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147254"/>
                  </a:ext>
                </a:extLst>
              </a:tr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376099"/>
                  </a:ext>
                </a:extLst>
              </a:tr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001863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3E2999F-B25C-8457-D298-741C5CDC7CF8}"/>
              </a:ext>
            </a:extLst>
          </p:cNvPr>
          <p:cNvGraphicFramePr>
            <a:graphicFrameLocks noGrp="1"/>
          </p:cNvGraphicFramePr>
          <p:nvPr/>
        </p:nvGraphicFramePr>
        <p:xfrm>
          <a:off x="6020281" y="2502371"/>
          <a:ext cx="4647716" cy="1219200"/>
        </p:xfrm>
        <a:graphic>
          <a:graphicData uri="http://schemas.openxmlformats.org/drawingml/2006/table">
            <a:tbl>
              <a:tblPr firstRow="1" firstCol="1" bandRow="1" bandCol="1">
                <a:tableStyleId>{793D81CF-94F2-401A-BA57-92F5A7B2D0C5}</a:tableStyleId>
              </a:tblPr>
              <a:tblGrid>
                <a:gridCol w="1181801">
                  <a:extLst>
                    <a:ext uri="{9D8B030D-6E8A-4147-A177-3AD203B41FA5}">
                      <a16:colId xmlns:a16="http://schemas.microsoft.com/office/drawing/2014/main" val="1984982212"/>
                    </a:ext>
                  </a:extLst>
                </a:gridCol>
                <a:gridCol w="1468291">
                  <a:extLst>
                    <a:ext uri="{9D8B030D-6E8A-4147-A177-3AD203B41FA5}">
                      <a16:colId xmlns:a16="http://schemas.microsoft.com/office/drawing/2014/main" val="3053098215"/>
                    </a:ext>
                  </a:extLst>
                </a:gridCol>
                <a:gridCol w="1997624">
                  <a:extLst>
                    <a:ext uri="{9D8B030D-6E8A-4147-A177-3AD203B41FA5}">
                      <a16:colId xmlns:a16="http://schemas.microsoft.com/office/drawing/2014/main" val="1507725201"/>
                    </a:ext>
                  </a:extLst>
                </a:gridCol>
              </a:tblGrid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Arrival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Burst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273935"/>
                  </a:ext>
                </a:extLst>
              </a:tr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147254"/>
                  </a:ext>
                </a:extLst>
              </a:tr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376099"/>
                  </a:ext>
                </a:extLst>
              </a:tr>
              <a:tr h="24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001863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853D3EDB-585D-8CB6-13B3-0369A200D635}"/>
              </a:ext>
            </a:extLst>
          </p:cNvPr>
          <p:cNvSpPr txBox="1"/>
          <p:nvPr/>
        </p:nvSpPr>
        <p:spPr>
          <a:xfrm>
            <a:off x="2255716" y="4146896"/>
            <a:ext cx="920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0--1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|Idle| </a:t>
            </a:r>
          </a:p>
        </p:txBody>
      </p:sp>
    </p:spTree>
    <p:extLst>
      <p:ext uri="{BB962C8B-B14F-4D97-AF65-F5344CB8AC3E}">
        <p14:creationId xmlns:p14="http://schemas.microsoft.com/office/powerpoint/2010/main" val="182422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0473-A502-AF96-E698-5BF9FC91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D2AF-4A18-B9F3-7BBE-BC7DCDBEA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189" y="1081088"/>
            <a:ext cx="8937811" cy="566933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 4 — Find Completion Time (CT)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Step 5 — Find Waiting Time (WT)   </a:t>
            </a:r>
            <a:r>
              <a:rPr lang="en-US" dirty="0"/>
              <a:t>Formula: WT = ST − AT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b="1" dirty="0"/>
              <a:t>P2</a:t>
            </a:r>
            <a:r>
              <a:rPr lang="en-US" dirty="0"/>
              <a:t> : WT = 1 − 1 = 0</a:t>
            </a:r>
          </a:p>
          <a:p>
            <a:pPr lvl="1"/>
            <a:r>
              <a:rPr lang="en-US" b="1" dirty="0"/>
              <a:t>P1</a:t>
            </a:r>
            <a:r>
              <a:rPr lang="en-US" dirty="0"/>
              <a:t> : WT = 4 − 2 = 2</a:t>
            </a:r>
          </a:p>
          <a:p>
            <a:pPr lvl="1"/>
            <a:r>
              <a:rPr lang="en-US" b="1" dirty="0"/>
              <a:t>P3</a:t>
            </a:r>
            <a:r>
              <a:rPr lang="en-US" dirty="0"/>
              <a:t> : WT = 28 − 2 = 26</a:t>
            </a:r>
          </a:p>
          <a:p>
            <a:r>
              <a:rPr lang="en-US" dirty="0"/>
              <a:t>Waiting Time Table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ADC159-0EF0-C304-5D38-A64F4335AB58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1521236"/>
          <a:ext cx="5611906" cy="1463040"/>
        </p:xfrm>
        <a:graphic>
          <a:graphicData uri="http://schemas.openxmlformats.org/drawingml/2006/table">
            <a:tbl>
              <a:tblPr firstRow="1" firstCol="1" bandRow="1" bandCol="1">
                <a:tableStyleId>{793D81CF-94F2-401A-BA57-92F5A7B2D0C5}</a:tableStyleId>
              </a:tblPr>
              <a:tblGrid>
                <a:gridCol w="2805953">
                  <a:extLst>
                    <a:ext uri="{9D8B030D-6E8A-4147-A177-3AD203B41FA5}">
                      <a16:colId xmlns:a16="http://schemas.microsoft.com/office/drawing/2014/main" val="1577289617"/>
                    </a:ext>
                  </a:extLst>
                </a:gridCol>
                <a:gridCol w="2805953">
                  <a:extLst>
                    <a:ext uri="{9D8B030D-6E8A-4147-A177-3AD203B41FA5}">
                      <a16:colId xmlns:a16="http://schemas.microsoft.com/office/drawing/2014/main" val="279282203"/>
                    </a:ext>
                  </a:extLst>
                </a:gridCol>
              </a:tblGrid>
              <a:tr h="339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725449"/>
                  </a:ext>
                </a:extLst>
              </a:tr>
              <a:tr h="339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6854"/>
                  </a:ext>
                </a:extLst>
              </a:tr>
              <a:tr h="339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376363"/>
                  </a:ext>
                </a:extLst>
              </a:tr>
              <a:tr h="339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5928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939D60-E73F-5293-C055-B94703AC4300}"/>
              </a:ext>
            </a:extLst>
          </p:cNvPr>
          <p:cNvGraphicFramePr>
            <a:graphicFrameLocks noGrp="1"/>
          </p:cNvGraphicFramePr>
          <p:nvPr/>
        </p:nvGraphicFramePr>
        <p:xfrm>
          <a:off x="2142565" y="5188827"/>
          <a:ext cx="5388162" cy="1463040"/>
        </p:xfrm>
        <a:graphic>
          <a:graphicData uri="http://schemas.openxmlformats.org/drawingml/2006/table">
            <a:tbl>
              <a:tblPr firstRow="1" firstCol="1" bandRow="1" bandCol="1">
                <a:tableStyleId>{793D81CF-94F2-401A-BA57-92F5A7B2D0C5}</a:tableStyleId>
              </a:tblPr>
              <a:tblGrid>
                <a:gridCol w="2694081">
                  <a:extLst>
                    <a:ext uri="{9D8B030D-6E8A-4147-A177-3AD203B41FA5}">
                      <a16:colId xmlns:a16="http://schemas.microsoft.com/office/drawing/2014/main" val="747936662"/>
                    </a:ext>
                  </a:extLst>
                </a:gridCol>
                <a:gridCol w="2694081">
                  <a:extLst>
                    <a:ext uri="{9D8B030D-6E8A-4147-A177-3AD203B41FA5}">
                      <a16:colId xmlns:a16="http://schemas.microsoft.com/office/drawing/2014/main" val="1088175778"/>
                    </a:ext>
                  </a:extLst>
                </a:gridCol>
              </a:tblGrid>
              <a:tr h="292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141426"/>
                  </a:ext>
                </a:extLst>
              </a:tr>
              <a:tr h="292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37229"/>
                  </a:ext>
                </a:extLst>
              </a:tr>
              <a:tr h="292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760965"/>
                  </a:ext>
                </a:extLst>
              </a:tr>
              <a:tr h="292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983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582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10F8D-B278-779A-F59F-146F2C320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638" y="164169"/>
            <a:ext cx="8893362" cy="4530725"/>
          </a:xfrm>
          <a:solidFill>
            <a:schemeClr val="bg1"/>
          </a:solidFill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 6 — Find Turnaround Time (TT) </a:t>
            </a:r>
            <a:r>
              <a:rPr lang="en-US" dirty="0"/>
              <a:t>Formula: TT = CT − AT</a:t>
            </a:r>
          </a:p>
          <a:p>
            <a:pPr lvl="1"/>
            <a:r>
              <a:rPr lang="en-US" b="1" dirty="0"/>
              <a:t>P2 : </a:t>
            </a:r>
            <a:r>
              <a:rPr lang="en-US" dirty="0"/>
              <a:t>TT = 4 − 1 = 3</a:t>
            </a:r>
          </a:p>
          <a:p>
            <a:pPr lvl="1"/>
            <a:r>
              <a:rPr lang="en-US" b="1" dirty="0"/>
              <a:t>P1 : </a:t>
            </a:r>
            <a:r>
              <a:rPr lang="en-US" dirty="0"/>
              <a:t>TT = 28 − 2 = 26</a:t>
            </a:r>
          </a:p>
          <a:p>
            <a:pPr lvl="1"/>
            <a:r>
              <a:rPr lang="en-US" b="1" dirty="0"/>
              <a:t>P3 : </a:t>
            </a:r>
            <a:r>
              <a:rPr lang="en-US" dirty="0"/>
              <a:t>TT = 31 − 2 = 29</a:t>
            </a:r>
          </a:p>
          <a:p>
            <a:r>
              <a:rPr lang="en-US" dirty="0"/>
              <a:t>Turnaround Time Table</a:t>
            </a:r>
          </a:p>
          <a:p>
            <a:r>
              <a:rPr lang="en-US" b="1" dirty="0">
                <a:solidFill>
                  <a:srgbClr val="FF0000"/>
                </a:solidFill>
              </a:rPr>
              <a:t>Step 7 — Average Waiting Time</a:t>
            </a:r>
          </a:p>
          <a:p>
            <a:r>
              <a:rPr lang="en-US" dirty="0"/>
              <a:t>(0 + 2 + 26) / 3</a:t>
            </a:r>
            <a:br>
              <a:rPr lang="en-US" dirty="0"/>
            </a:br>
            <a:r>
              <a:rPr lang="en-US" dirty="0"/>
              <a:t>= 28 / 3</a:t>
            </a:r>
            <a:br>
              <a:rPr lang="en-US" dirty="0"/>
            </a:br>
            <a:r>
              <a:rPr lang="en-US" dirty="0"/>
              <a:t>= 9.33</a:t>
            </a:r>
          </a:p>
          <a:p>
            <a:r>
              <a:rPr lang="en-US" b="1" dirty="0">
                <a:solidFill>
                  <a:srgbClr val="FF0000"/>
                </a:solidFill>
              </a:rPr>
              <a:t>Step 8 — Average Turnaround Time</a:t>
            </a:r>
          </a:p>
          <a:p>
            <a:r>
              <a:rPr lang="en-US" dirty="0"/>
              <a:t>(3 + 26 + 29) / 3</a:t>
            </a:r>
            <a:br>
              <a:rPr lang="en-US" dirty="0"/>
            </a:br>
            <a:r>
              <a:rPr lang="en-US" dirty="0"/>
              <a:t>= 58 / 3</a:t>
            </a:r>
            <a:br>
              <a:rPr lang="en-US" dirty="0"/>
            </a:br>
            <a:r>
              <a:rPr lang="en-US" dirty="0"/>
              <a:t>= 19.33</a:t>
            </a:r>
          </a:p>
          <a:p>
            <a:r>
              <a:rPr lang="en-US" dirty="0"/>
              <a:t>Final Answer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51BB97-BC30-6CE8-7736-F16960E9ECB2}"/>
              </a:ext>
            </a:extLst>
          </p:cNvPr>
          <p:cNvGraphicFramePr>
            <a:graphicFrameLocks noGrp="1"/>
          </p:cNvGraphicFramePr>
          <p:nvPr/>
        </p:nvGraphicFramePr>
        <p:xfrm>
          <a:off x="5629461" y="553046"/>
          <a:ext cx="3711762" cy="146304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855881">
                  <a:extLst>
                    <a:ext uri="{9D8B030D-6E8A-4147-A177-3AD203B41FA5}">
                      <a16:colId xmlns:a16="http://schemas.microsoft.com/office/drawing/2014/main" val="3262859922"/>
                    </a:ext>
                  </a:extLst>
                </a:gridCol>
                <a:gridCol w="1855881">
                  <a:extLst>
                    <a:ext uri="{9D8B030D-6E8A-4147-A177-3AD203B41FA5}">
                      <a16:colId xmlns:a16="http://schemas.microsoft.com/office/drawing/2014/main" val="4135457236"/>
                    </a:ext>
                  </a:extLst>
                </a:gridCol>
              </a:tblGrid>
              <a:tr h="32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06968"/>
                  </a:ext>
                </a:extLst>
              </a:tr>
              <a:tr h="32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356391"/>
                  </a:ext>
                </a:extLst>
              </a:tr>
              <a:tr h="32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008234"/>
                  </a:ext>
                </a:extLst>
              </a:tr>
              <a:tr h="320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8909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A09166-6C36-BC23-E728-456FA6D0DA9B}"/>
              </a:ext>
            </a:extLst>
          </p:cNvPr>
          <p:cNvGraphicFramePr>
            <a:graphicFrameLocks noGrp="1"/>
          </p:cNvGraphicFramePr>
          <p:nvPr/>
        </p:nvGraphicFramePr>
        <p:xfrm>
          <a:off x="1981201" y="4981613"/>
          <a:ext cx="8229599" cy="1463040"/>
        </p:xfrm>
        <a:graphic>
          <a:graphicData uri="http://schemas.openxmlformats.org/drawingml/2006/table">
            <a:tbl>
              <a:tblPr firstRow="1" firstCol="1" bandRow="1" bandCol="1">
                <a:tableStyleId>{793D81CF-94F2-401A-BA57-92F5A7B2D0C5}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414328012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68620654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4159578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04713251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99624634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12241885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940873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485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764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25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791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675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372D4B-9A01-03C6-FA2C-71089EF8C06C}"/>
              </a:ext>
            </a:extLst>
          </p:cNvPr>
          <p:cNvSpPr txBox="1"/>
          <p:nvPr/>
        </p:nvSpPr>
        <p:spPr>
          <a:xfrm>
            <a:off x="2097742" y="1321458"/>
            <a:ext cx="85702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kern="0" dirty="0">
                <a:solidFill>
                  <a:srgbClr val="006699"/>
                </a:solidFill>
                <a:latin typeface="Arial"/>
                <a:ea typeface="MS PGothic" pitchFamily="34" charset="-128"/>
              </a:rPr>
              <a:t>Example of Modern method calculation </a:t>
            </a:r>
            <a:r>
              <a:rPr kumimoji="1" lang="en-US" sz="3200" b="1" kern="0" dirty="0">
                <a:solidFill>
                  <a:srgbClr val="006699"/>
                </a:solidFill>
                <a:latin typeface="Arial"/>
                <a:ea typeface="MS PGothic" pitchFamily="34" charset="-128"/>
              </a:rPr>
              <a:t>With Arrival Time(Two Process is equal)</a:t>
            </a:r>
            <a:endParaRPr lang="en-US" sz="1600" dirty="0">
              <a:solidFill>
                <a:srgbClr val="00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A8AFB5-B9AE-E98E-6299-7AFCC9348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417" y="2463697"/>
            <a:ext cx="8332091" cy="193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91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8CA40F-CE5E-7705-1C3A-269705BBC437}"/>
              </a:ext>
            </a:extLst>
          </p:cNvPr>
          <p:cNvGraphicFramePr>
            <a:graphicFrameLocks noGrp="1"/>
          </p:cNvGraphicFramePr>
          <p:nvPr/>
        </p:nvGraphicFramePr>
        <p:xfrm>
          <a:off x="1831467" y="186331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B0B5F6-D79F-50EF-3F99-3C2C95108EFF}"/>
              </a:ext>
            </a:extLst>
          </p:cNvPr>
          <p:cNvSpPr txBox="1"/>
          <p:nvPr/>
        </p:nvSpPr>
        <p:spPr>
          <a:xfrm>
            <a:off x="1792964" y="1762067"/>
            <a:ext cx="460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1 — Draw Gantt Chart</a:t>
            </a:r>
          </a:p>
        </p:txBody>
      </p:sp>
      <p:grpSp>
        <p:nvGrpSpPr>
          <p:cNvPr id="7" name="Group 18">
            <a:extLst>
              <a:ext uri="{FF2B5EF4-FFF2-40B4-BE49-F238E27FC236}">
                <a16:creationId xmlns:a16="http://schemas.microsoft.com/office/drawing/2014/main" id="{B1073951-89A0-FAFD-AB9F-B5213B077E93}"/>
              </a:ext>
            </a:extLst>
          </p:cNvPr>
          <p:cNvGrpSpPr>
            <a:grpSpLocks/>
          </p:cNvGrpSpPr>
          <p:nvPr/>
        </p:nvGrpSpPr>
        <p:grpSpPr bwMode="auto">
          <a:xfrm>
            <a:off x="2367018" y="2144163"/>
            <a:ext cx="4450632" cy="939974"/>
            <a:chOff x="829" y="2688"/>
            <a:chExt cx="3568" cy="741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D378481C-4017-515A-8351-42849861D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0" lang="en-US" altLang="en-US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F5F01B0D-07D2-9966-A11E-50E943BFE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1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F186B726-79D9-DBF9-9EB2-C83328CDB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2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64C9E364-C973-B6C3-43AB-9C83E3D10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3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20F1159D-833E-094B-1327-2D5BFC53C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3113B71D-3451-7885-C697-431585B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A075F9EB-0BB8-2E78-7A9E-44A4B5152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E2033BD5-511D-CCF6-0F13-251E4C4BA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9C50CD10-3D93-D730-D84F-131B8333F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9685798C-DD2E-BCB0-8692-77E3A3DB7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E21CB480-AE1C-1C0F-806F-97B02689A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3138"/>
              <a:ext cx="3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24</a:t>
              </a:r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45E4F50E-85AB-E07D-865A-924520138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7" y="3138"/>
              <a:ext cx="3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27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9E364D7A-840F-32E9-0CB6-AEB01DE93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3" y="3138"/>
              <a:ext cx="3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30</a:t>
              </a: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DA7000AF-B56B-1C97-ACCC-92EA1A77B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" y="3138"/>
              <a:ext cx="2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28C0A9D-FCEA-9C6C-8529-33B2AC8ADAF8}"/>
              </a:ext>
            </a:extLst>
          </p:cNvPr>
          <p:cNvSpPr txBox="1"/>
          <p:nvPr/>
        </p:nvSpPr>
        <p:spPr>
          <a:xfrm>
            <a:off x="1772703" y="3062339"/>
            <a:ext cx="460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2 — Completion Time (CT)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89C4CB0-5B55-D13B-8898-CE6480069603}"/>
              </a:ext>
            </a:extLst>
          </p:cNvPr>
          <p:cNvGraphicFramePr>
            <a:graphicFrameLocks noGrp="1"/>
          </p:cNvGraphicFramePr>
          <p:nvPr/>
        </p:nvGraphicFramePr>
        <p:xfrm>
          <a:off x="1831466" y="3489066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655B106-53B2-C248-46A8-9A5523CA1775}"/>
              </a:ext>
            </a:extLst>
          </p:cNvPr>
          <p:cNvSpPr txBox="1"/>
          <p:nvPr/>
        </p:nvSpPr>
        <p:spPr>
          <a:xfrm>
            <a:off x="1831465" y="5120479"/>
            <a:ext cx="845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3 — Turnaround Time (TAT)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Formula TAT = CT − AT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4A88B5-5C9F-47F1-B1DE-12C24AB01E88}"/>
              </a:ext>
            </a:extLst>
          </p:cNvPr>
          <p:cNvSpPr txBox="1"/>
          <p:nvPr/>
        </p:nvSpPr>
        <p:spPr>
          <a:xfrm>
            <a:off x="1772703" y="5606352"/>
            <a:ext cx="2333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P1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24 − 0 = 24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P2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27 − 0 = 27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P3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30 − 0 = 30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34BE50C-DE3F-4C83-8D85-E404D14F43E5}"/>
              </a:ext>
            </a:extLst>
          </p:cNvPr>
          <p:cNvGraphicFramePr>
            <a:graphicFrameLocks noGrp="1"/>
          </p:cNvGraphicFramePr>
          <p:nvPr/>
        </p:nvGraphicFramePr>
        <p:xfrm>
          <a:off x="3944474" y="5489810"/>
          <a:ext cx="6723527" cy="136819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8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5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28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3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Arrival</a:t>
                      </a:r>
                    </a:p>
                    <a:p>
                      <a:pPr algn="ctr"/>
                      <a:r>
                        <a:rPr lang="en-US" sz="10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Burst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Completion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Turnaround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Waiting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Response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68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5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5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30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30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78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6D144-E325-9048-3491-BA5E6F64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4D8720-C1E4-CA99-1957-68E9A30ADE74}"/>
              </a:ext>
            </a:extLst>
          </p:cNvPr>
          <p:cNvSpPr txBox="1"/>
          <p:nvPr/>
        </p:nvSpPr>
        <p:spPr>
          <a:xfrm>
            <a:off x="1817530" y="143652"/>
            <a:ext cx="845105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4 — Waiting Time (WT)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Formula: WT = TAT − BT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15B1EF-90DF-6A7B-FED6-88912B66FC46}"/>
              </a:ext>
            </a:extLst>
          </p:cNvPr>
          <p:cNvSpPr txBox="1"/>
          <p:nvPr/>
        </p:nvSpPr>
        <p:spPr>
          <a:xfrm>
            <a:off x="1772704" y="2280387"/>
            <a:ext cx="7909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5 — Response Time (RT)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Formula RT = First Start Time − AT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159118B-934A-110B-3E47-61951E70D399}"/>
              </a:ext>
            </a:extLst>
          </p:cNvPr>
          <p:cNvGraphicFramePr>
            <a:graphicFrameLocks noGrp="1"/>
          </p:cNvGraphicFramePr>
          <p:nvPr/>
        </p:nvGraphicFramePr>
        <p:xfrm>
          <a:off x="1817530" y="2773606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30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11038AA-75FB-54F7-1A6C-EC2385FA7568}"/>
              </a:ext>
            </a:extLst>
          </p:cNvPr>
          <p:cNvSpPr txBox="1"/>
          <p:nvPr/>
        </p:nvSpPr>
        <p:spPr>
          <a:xfrm>
            <a:off x="1772704" y="4339511"/>
            <a:ext cx="845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6 — Average Waiting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C9789-3F9E-F7EB-C56F-4664A92CEC9A}"/>
              </a:ext>
            </a:extLst>
          </p:cNvPr>
          <p:cNvSpPr txBox="1"/>
          <p:nvPr/>
        </p:nvSpPr>
        <p:spPr>
          <a:xfrm>
            <a:off x="1831464" y="828880"/>
            <a:ext cx="4603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P1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24 − 24 = 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P2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27 − 3 = 24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P3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30 − 3 = 27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262F51-97AB-6148-AECA-41F42F0D398E}"/>
              </a:ext>
            </a:extLst>
          </p:cNvPr>
          <p:cNvGraphicFramePr>
            <a:graphicFrameLocks noGrp="1"/>
          </p:cNvGraphicFramePr>
          <p:nvPr/>
        </p:nvGraphicFramePr>
        <p:xfrm>
          <a:off x="4018785" y="849745"/>
          <a:ext cx="6586463" cy="136819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29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5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4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3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Arrival</a:t>
                      </a:r>
                    </a:p>
                    <a:p>
                      <a:pPr algn="ctr"/>
                      <a:r>
                        <a:rPr lang="en-US" sz="10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Burst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Completion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Turnaround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Waiting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Response </a:t>
                      </a:r>
                    </a:p>
                    <a:p>
                      <a:pPr algn="ctr"/>
                      <a:r>
                        <a:rPr lang="en-US" sz="10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68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5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54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30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30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27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017242C-4B47-84AB-8FD6-C45FDC60EAAB}"/>
              </a:ext>
            </a:extLst>
          </p:cNvPr>
          <p:cNvSpPr txBox="1"/>
          <p:nvPr/>
        </p:nvSpPr>
        <p:spPr>
          <a:xfrm>
            <a:off x="1898277" y="4683022"/>
            <a:ext cx="4603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(0 + 24 + 27) / 51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51 / 3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17Ms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E0CE83-4B25-445E-4B09-E8A3840C55EB}"/>
              </a:ext>
            </a:extLst>
          </p:cNvPr>
          <p:cNvSpPr txBox="1"/>
          <p:nvPr/>
        </p:nvSpPr>
        <p:spPr>
          <a:xfrm>
            <a:off x="1709950" y="5514020"/>
            <a:ext cx="76312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7 — Average Turnaround Time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(24 + 27 + 30) / 3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81 / 3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27ms</a:t>
            </a:r>
          </a:p>
        </p:txBody>
      </p:sp>
    </p:spTree>
    <p:extLst>
      <p:ext uri="{BB962C8B-B14F-4D97-AF65-F5344CB8AC3E}">
        <p14:creationId xmlns:p14="http://schemas.microsoft.com/office/powerpoint/2010/main" val="2783399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6C60-6A39-5AF1-B1DA-65E11AF5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C539DE-9485-ED47-2AA2-419DD5518555}"/>
              </a:ext>
            </a:extLst>
          </p:cNvPr>
          <p:cNvSpPr txBox="1"/>
          <p:nvPr/>
        </p:nvSpPr>
        <p:spPr>
          <a:xfrm>
            <a:off x="1929955" y="1124234"/>
            <a:ext cx="85702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kern="0" dirty="0">
                <a:solidFill>
                  <a:srgbClr val="006699"/>
                </a:solidFill>
                <a:latin typeface="Arial"/>
                <a:ea typeface="MS PGothic" pitchFamily="34" charset="-128"/>
              </a:rPr>
              <a:t>Example of Modern method calculation </a:t>
            </a:r>
            <a:r>
              <a:rPr kumimoji="1" lang="en-US" sz="3200" b="1" kern="0" dirty="0">
                <a:solidFill>
                  <a:srgbClr val="006699"/>
                </a:solidFill>
                <a:latin typeface="Arial"/>
                <a:ea typeface="MS PGothic" pitchFamily="34" charset="-128"/>
              </a:rPr>
              <a:t>With Arrival Time(Two Process is equal)</a:t>
            </a:r>
            <a:r>
              <a:rPr lang="en-US" sz="2800" b="1" kern="0" dirty="0">
                <a:solidFill>
                  <a:srgbClr val="006699"/>
                </a:solidFill>
                <a:latin typeface="Arial"/>
                <a:ea typeface="MS PGothic" pitchFamily="34" charset="-128"/>
              </a:rPr>
              <a:t> of Modern method calculation </a:t>
            </a:r>
            <a:r>
              <a:rPr kumimoji="1" lang="en-US" sz="2800" b="1" kern="0" dirty="0">
                <a:solidFill>
                  <a:srgbClr val="006699"/>
                </a:solidFill>
                <a:latin typeface="Arial"/>
                <a:ea typeface="MS PGothic" pitchFamily="34" charset="-128"/>
              </a:rPr>
              <a:t>Without Arrival Time (or all arrival times = 0) </a:t>
            </a:r>
            <a:endParaRPr lang="en-US" sz="1600" dirty="0">
              <a:solidFill>
                <a:srgbClr val="00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BF1994-E964-0FEE-5EB1-1FF9D802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55" y="3360168"/>
            <a:ext cx="8332091" cy="193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93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DBE7-918D-6EEE-FC62-EFF359FE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87D233-D062-5A9B-01D4-2CBCD7572FF1}"/>
              </a:ext>
            </a:extLst>
          </p:cNvPr>
          <p:cNvGraphicFramePr>
            <a:graphicFrameLocks noGrp="1"/>
          </p:cNvGraphicFramePr>
          <p:nvPr/>
        </p:nvGraphicFramePr>
        <p:xfrm>
          <a:off x="1831467" y="186331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5FF18A-960C-5872-F1B4-281CCF044F19}"/>
              </a:ext>
            </a:extLst>
          </p:cNvPr>
          <p:cNvSpPr txBox="1"/>
          <p:nvPr/>
        </p:nvSpPr>
        <p:spPr>
          <a:xfrm>
            <a:off x="1792964" y="1762067"/>
            <a:ext cx="794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1 — Sort by Arrival Time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Smallest arrival time executes first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3DC826-A4D6-9EB6-186D-0343204209B2}"/>
              </a:ext>
            </a:extLst>
          </p:cNvPr>
          <p:cNvSpPr txBox="1"/>
          <p:nvPr/>
        </p:nvSpPr>
        <p:spPr>
          <a:xfrm>
            <a:off x="1792964" y="4726602"/>
            <a:ext cx="845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2 — Draw Gantt Chart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Formula TAT = CT − AT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47431-033E-20F5-0939-548818DA4ADA}"/>
              </a:ext>
            </a:extLst>
          </p:cNvPr>
          <p:cNvSpPr txBox="1"/>
          <p:nvPr/>
        </p:nvSpPr>
        <p:spPr>
          <a:xfrm>
            <a:off x="1898276" y="2110893"/>
            <a:ext cx="62416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P3 arrives first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P1 and P2 both have: AT = 2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Assume P1 entered ready queue before P2.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690BE8-6412-83ED-B8F2-8FF6A5F6B5FE}"/>
              </a:ext>
            </a:extLst>
          </p:cNvPr>
          <p:cNvGraphicFramePr>
            <a:graphicFrameLocks noGrp="1"/>
          </p:cNvGraphicFramePr>
          <p:nvPr/>
        </p:nvGraphicFramePr>
        <p:xfrm>
          <a:off x="1831467" y="3122868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2" name="Group 18">
            <a:extLst>
              <a:ext uri="{FF2B5EF4-FFF2-40B4-BE49-F238E27FC236}">
                <a16:creationId xmlns:a16="http://schemas.microsoft.com/office/drawing/2014/main" id="{42FC6D16-A050-A6B1-A9D9-2708261B917C}"/>
              </a:ext>
            </a:extLst>
          </p:cNvPr>
          <p:cNvGrpSpPr>
            <a:grpSpLocks/>
          </p:cNvGrpSpPr>
          <p:nvPr/>
        </p:nvGrpSpPr>
        <p:grpSpPr bwMode="auto">
          <a:xfrm>
            <a:off x="3012477" y="5179656"/>
            <a:ext cx="4451879" cy="939974"/>
            <a:chOff x="829" y="2688"/>
            <a:chExt cx="3569" cy="741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2B1A8B00-E7F9-4115-4AEA-74A4404B8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0" lang="en-US" altLang="en-US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FD5186D2-665E-F55B-129B-AB19E1FFF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3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0" name="Text Box 6">
              <a:extLst>
                <a:ext uri="{FF2B5EF4-FFF2-40B4-BE49-F238E27FC236}">
                  <a16:creationId xmlns:a16="http://schemas.microsoft.com/office/drawing/2014/main" id="{D5F216E5-D347-E5B9-F638-8157BC4D6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2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9384B7B3-F98F-CA03-101B-553922842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2706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P</a:t>
              </a:r>
              <a:r>
                <a:rPr kumimoji="0" lang="en-US" altLang="en-US" baseline="-25000" dirty="0">
                  <a:solidFill>
                    <a:srgbClr val="000000"/>
                  </a:solidFill>
                </a:rPr>
                <a:t>3</a:t>
              </a:r>
              <a:endParaRPr kumimoji="0"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2" name="Line 8">
              <a:extLst>
                <a:ext uri="{FF2B5EF4-FFF2-40B4-BE49-F238E27FC236}">
                  <a16:creationId xmlns:a16="http://schemas.microsoft.com/office/drawing/2014/main" id="{FFCE0B9D-1F03-95AE-0429-D9F386883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3" name="Line 9">
              <a:extLst>
                <a:ext uri="{FF2B5EF4-FFF2-40B4-BE49-F238E27FC236}">
                  <a16:creationId xmlns:a16="http://schemas.microsoft.com/office/drawing/2014/main" id="{E2107255-354A-D9FC-8ADB-48142F6F8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4" name="Line 10">
              <a:extLst>
                <a:ext uri="{FF2B5EF4-FFF2-40B4-BE49-F238E27FC236}">
                  <a16:creationId xmlns:a16="http://schemas.microsoft.com/office/drawing/2014/main" id="{E1CC7A56-2F79-DA3F-778B-EBB345E22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5" name="Line 11">
              <a:extLst>
                <a:ext uri="{FF2B5EF4-FFF2-40B4-BE49-F238E27FC236}">
                  <a16:creationId xmlns:a16="http://schemas.microsoft.com/office/drawing/2014/main" id="{6C12BDF0-0077-1392-493B-EB73BD9F0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7C1DC16D-35EA-67BC-4F75-52B430629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" name="Line 13">
              <a:extLst>
                <a:ext uri="{FF2B5EF4-FFF2-40B4-BE49-F238E27FC236}">
                  <a16:creationId xmlns:a16="http://schemas.microsoft.com/office/drawing/2014/main" id="{5A86E2C5-9695-A08F-C0E7-9B2B61AC3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8" name="Text Box 14">
              <a:extLst>
                <a:ext uri="{FF2B5EF4-FFF2-40B4-BE49-F238E27FC236}">
                  <a16:creationId xmlns:a16="http://schemas.microsoft.com/office/drawing/2014/main" id="{4D4C1E9C-DF8C-8AA5-5056-FE4333353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0" y="3138"/>
              <a:ext cx="2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9" name="Text Box 15">
              <a:extLst>
                <a:ext uri="{FF2B5EF4-FFF2-40B4-BE49-F238E27FC236}">
                  <a16:creationId xmlns:a16="http://schemas.microsoft.com/office/drawing/2014/main" id="{45015FE9-76FB-1762-D1F9-34B3B1188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8" y="3138"/>
              <a:ext cx="3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28</a:t>
              </a:r>
            </a:p>
          </p:txBody>
        </p:sp>
        <p:sp>
          <p:nvSpPr>
            <p:cNvPr id="40" name="Text Box 16">
              <a:extLst>
                <a:ext uri="{FF2B5EF4-FFF2-40B4-BE49-F238E27FC236}">
                  <a16:creationId xmlns:a16="http://schemas.microsoft.com/office/drawing/2014/main" id="{3253235C-5B60-2F53-403B-F10E2220A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4" y="3138"/>
              <a:ext cx="3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31</a:t>
              </a:r>
            </a:p>
          </p:txBody>
        </p:sp>
        <p:sp>
          <p:nvSpPr>
            <p:cNvPr id="41" name="Text Box 17">
              <a:extLst>
                <a:ext uri="{FF2B5EF4-FFF2-40B4-BE49-F238E27FC236}">
                  <a16:creationId xmlns:a16="http://schemas.microsoft.com/office/drawing/2014/main" id="{201A288F-B2A4-A650-E47A-33D7EBE4E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" y="3138"/>
              <a:ext cx="2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0" lang="en-US" altLang="en-US" dirty="0">
                  <a:solidFill>
                    <a:srgbClr val="00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370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6B28-D49C-7AC1-AD1C-8ED2A52A6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0685DD-6452-8F18-2574-2884EB1108A6}"/>
              </a:ext>
            </a:extLst>
          </p:cNvPr>
          <p:cNvSpPr txBox="1"/>
          <p:nvPr/>
        </p:nvSpPr>
        <p:spPr>
          <a:xfrm>
            <a:off x="1792964" y="1804039"/>
            <a:ext cx="794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3 — Completion Time (CT)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889C0E-5376-D33A-69C7-9E684851228F}"/>
              </a:ext>
            </a:extLst>
          </p:cNvPr>
          <p:cNvSpPr txBox="1"/>
          <p:nvPr/>
        </p:nvSpPr>
        <p:spPr>
          <a:xfrm>
            <a:off x="1792964" y="3812551"/>
            <a:ext cx="845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4 — Turnaround Time (TAT)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Formula TAT = CT − AT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E63F40-DE55-3AAA-5B9D-25120DB48DAF}"/>
              </a:ext>
            </a:extLst>
          </p:cNvPr>
          <p:cNvGraphicFramePr>
            <a:graphicFrameLocks noGrp="1"/>
          </p:cNvGraphicFramePr>
          <p:nvPr/>
        </p:nvGraphicFramePr>
        <p:xfrm>
          <a:off x="1849193" y="214193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2DA78F-0437-2B29-75D6-BDF533C83919}"/>
              </a:ext>
            </a:extLst>
          </p:cNvPr>
          <p:cNvGraphicFramePr>
            <a:graphicFrameLocks noGrp="1"/>
          </p:cNvGraphicFramePr>
          <p:nvPr/>
        </p:nvGraphicFramePr>
        <p:xfrm>
          <a:off x="1792964" y="2236815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28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79E5E9-86CF-5BBF-DCDF-E924CFA5A83A}"/>
              </a:ext>
            </a:extLst>
          </p:cNvPr>
          <p:cNvSpPr txBox="1"/>
          <p:nvPr/>
        </p:nvSpPr>
        <p:spPr>
          <a:xfrm>
            <a:off x="1849192" y="4259437"/>
            <a:ext cx="2624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P3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4 − 1 = 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P1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28 − 2 = 26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P2 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31 − 2 = 29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0DE277-8842-A223-8219-C9B1AB2C18A0}"/>
              </a:ext>
            </a:extLst>
          </p:cNvPr>
          <p:cNvGraphicFramePr>
            <a:graphicFrameLocks noGrp="1"/>
          </p:cNvGraphicFramePr>
          <p:nvPr/>
        </p:nvGraphicFramePr>
        <p:xfrm>
          <a:off x="1792964" y="5182767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28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29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573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01B2-93ED-0317-C04D-80E0A9977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110051-E067-9DBE-BA0F-809C85CC64C2}"/>
              </a:ext>
            </a:extLst>
          </p:cNvPr>
          <p:cNvSpPr txBox="1"/>
          <p:nvPr/>
        </p:nvSpPr>
        <p:spPr>
          <a:xfrm>
            <a:off x="1792964" y="1804039"/>
            <a:ext cx="794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5 — Waiting Time (WT)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Formula WT = TAT − BT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D11B6-9805-B6A9-BE90-661CC17605F7}"/>
              </a:ext>
            </a:extLst>
          </p:cNvPr>
          <p:cNvSpPr txBox="1"/>
          <p:nvPr/>
        </p:nvSpPr>
        <p:spPr>
          <a:xfrm>
            <a:off x="1792962" y="2119316"/>
            <a:ext cx="2624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P3 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3 − 3 = 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P1 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26 − 24 = 2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P2 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29 − 3 = 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161210-2B65-6C86-FBE2-D22B20620960}"/>
              </a:ext>
            </a:extLst>
          </p:cNvPr>
          <p:cNvGraphicFramePr>
            <a:graphicFrameLocks noGrp="1"/>
          </p:cNvGraphicFramePr>
          <p:nvPr/>
        </p:nvGraphicFramePr>
        <p:xfrm>
          <a:off x="1864002" y="270164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28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29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A9EFE4-127C-8563-8BE0-1C1AB8F3443F}"/>
              </a:ext>
            </a:extLst>
          </p:cNvPr>
          <p:cNvGraphicFramePr>
            <a:graphicFrameLocks noGrp="1"/>
          </p:cNvGraphicFramePr>
          <p:nvPr/>
        </p:nvGraphicFramePr>
        <p:xfrm>
          <a:off x="1864001" y="3042646"/>
          <a:ext cx="8308975" cy="14920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Arrival</a:t>
                      </a:r>
                    </a:p>
                    <a:p>
                      <a:pPr algn="ctr"/>
                      <a:r>
                        <a:rPr lang="en-US" sz="140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Burst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Completion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Turnaround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Waiting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Response </a:t>
                      </a:r>
                    </a:p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28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29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?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4A91F0-3323-A378-21D5-D80F3A6ACD73}"/>
              </a:ext>
            </a:extLst>
          </p:cNvPr>
          <p:cNvSpPr txBox="1"/>
          <p:nvPr/>
        </p:nvSpPr>
        <p:spPr>
          <a:xfrm>
            <a:off x="1787270" y="4582653"/>
            <a:ext cx="8184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6 — Response Time (RT)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RT = First Start Time − AT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F7484-D163-5A10-3DE0-45B27714C0FE}"/>
              </a:ext>
            </a:extLst>
          </p:cNvPr>
          <p:cNvSpPr txBox="1"/>
          <p:nvPr/>
        </p:nvSpPr>
        <p:spPr>
          <a:xfrm>
            <a:off x="1883440" y="4951986"/>
            <a:ext cx="2533719" cy="18466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Start Times: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P3 starts at 1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P1 starts at 4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P2 starts at 28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P3: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1 − 1 = 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P1 :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4 − 2 = 2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P2: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MS PGothic" panose="020B0600070205080204" pitchFamily="34" charset="-128"/>
              </a:rPr>
              <a:t>28 − 2 = 26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BFA1B13-67D4-7CE1-E2D0-7E52684F80F5}"/>
              </a:ext>
            </a:extLst>
          </p:cNvPr>
          <p:cNvGraphicFramePr>
            <a:graphicFrameLocks noGrp="1"/>
          </p:cNvGraphicFramePr>
          <p:nvPr/>
        </p:nvGraphicFramePr>
        <p:xfrm>
          <a:off x="4132730" y="4999979"/>
          <a:ext cx="6535271" cy="18580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5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41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382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Arrival</a:t>
                      </a:r>
                    </a:p>
                    <a:p>
                      <a:pPr algn="ctr"/>
                      <a:r>
                        <a:rPr lang="en-US" sz="105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Burst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Completion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Turnaround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Waiting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Response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0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0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0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28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0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29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26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828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11A9-F812-8826-BA9F-014C3FBD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1F6C75-93F7-EC08-7270-2AE85957CDEA}"/>
              </a:ext>
            </a:extLst>
          </p:cNvPr>
          <p:cNvSpPr txBox="1"/>
          <p:nvPr/>
        </p:nvSpPr>
        <p:spPr>
          <a:xfrm>
            <a:off x="1799598" y="1829394"/>
            <a:ext cx="845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7 — Average Waiting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8E3F9-AADA-A32E-DD1C-0A6753EBFDDF}"/>
              </a:ext>
            </a:extLst>
          </p:cNvPr>
          <p:cNvSpPr txBox="1"/>
          <p:nvPr/>
        </p:nvSpPr>
        <p:spPr>
          <a:xfrm>
            <a:off x="1925171" y="2172905"/>
            <a:ext cx="4603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(0 + 2 + 26) / 30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30 / 3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10Ms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99BB3D-FECB-A65B-88E9-323FBD945662}"/>
              </a:ext>
            </a:extLst>
          </p:cNvPr>
          <p:cNvGraphicFramePr>
            <a:graphicFrameLocks noGrp="1"/>
          </p:cNvGraphicFramePr>
          <p:nvPr/>
        </p:nvGraphicFramePr>
        <p:xfrm>
          <a:off x="1799598" y="175764"/>
          <a:ext cx="7539317" cy="151224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77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772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Process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Arrival</a:t>
                      </a:r>
                    </a:p>
                    <a:p>
                      <a:pPr algn="ctr"/>
                      <a:r>
                        <a:rPr lang="en-US" sz="1050" dirty="0"/>
                        <a:t> Time 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Burst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Completion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Turnaround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Waiting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Response </a:t>
                      </a:r>
                    </a:p>
                    <a:p>
                      <a:pPr algn="ctr"/>
                      <a:r>
                        <a:rPr lang="en-US" sz="1050" dirty="0"/>
                        <a:t>Time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3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Process 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0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0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3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Process 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24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28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3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Process 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31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29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26</a:t>
                      </a:r>
                    </a:p>
                  </a:txBody>
                  <a:tcPr marL="91427" marR="91427" marT="45747" marB="45747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26</a:t>
                      </a:r>
                    </a:p>
                  </a:txBody>
                  <a:tcPr marL="91427" marR="91427" marT="45747" marB="457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B7765F5-5596-45CE-501A-9B6EE0803BAA}"/>
              </a:ext>
            </a:extLst>
          </p:cNvPr>
          <p:cNvSpPr txBox="1"/>
          <p:nvPr/>
        </p:nvSpPr>
        <p:spPr>
          <a:xfrm>
            <a:off x="1799598" y="3227490"/>
            <a:ext cx="76312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Step 8 — Average Turnaround Time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(3 + 26 + 29) / 3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58 / 3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= 19.33ms</a:t>
            </a:r>
          </a:p>
        </p:txBody>
      </p:sp>
    </p:spTree>
    <p:extLst>
      <p:ext uri="{BB962C8B-B14F-4D97-AF65-F5344CB8AC3E}">
        <p14:creationId xmlns:p14="http://schemas.microsoft.com/office/powerpoint/2010/main" val="4032549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DD82-E9A0-45E9-9437-C5112E38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DB7FFEA5-17F5-E091-78C0-5D7841CBCC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5</a:t>
            </a:r>
          </a:p>
        </p:txBody>
      </p:sp>
    </p:spTree>
    <p:extLst>
      <p:ext uri="{BB962C8B-B14F-4D97-AF65-F5344CB8AC3E}">
        <p14:creationId xmlns:p14="http://schemas.microsoft.com/office/powerpoint/2010/main" val="316795084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2909</Words>
  <Application>Microsoft Office PowerPoint</Application>
  <PresentationFormat>Widescreen</PresentationFormat>
  <Paragraphs>872</Paragraphs>
  <Slides>32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MS PGothic</vt:lpstr>
      <vt:lpstr>Arial</vt:lpstr>
      <vt:lpstr>Calibri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5:  CPU Scheduling</vt:lpstr>
      <vt:lpstr>Chapter 5:  CPU Scheduling</vt:lpstr>
      <vt:lpstr>Objectives</vt:lpstr>
      <vt:lpstr>Why Do We Need CPU Scheduling?</vt:lpstr>
      <vt:lpstr>Objectives of CPU Scheduling</vt:lpstr>
      <vt:lpstr>Basic Concepts</vt:lpstr>
      <vt:lpstr>CPU Scheduler</vt:lpstr>
      <vt:lpstr>Dispatcher</vt:lpstr>
      <vt:lpstr>Scheduling Criteria</vt:lpstr>
      <vt:lpstr>Scheduling Algorithm Optimization Criteria</vt:lpstr>
      <vt:lpstr>Scheduling Algorithms</vt:lpstr>
      <vt:lpstr>FCFS Scheduling</vt:lpstr>
      <vt:lpstr>FCFS Scheduling</vt:lpstr>
      <vt:lpstr>FCFS Scheduling-traditional method Formula calculation</vt:lpstr>
      <vt:lpstr>FCFS Scheduling-traditional method</vt:lpstr>
      <vt:lpstr>FCFS Scheduling-traditional method</vt:lpstr>
      <vt:lpstr>Example of traditional method calculation Without Arrival Time (or all arrival times = 0) </vt:lpstr>
      <vt:lpstr>Without Arrival Time (or all arrival times = 0) </vt:lpstr>
      <vt:lpstr>Without Arrival Time (or all arrival times = 0) </vt:lpstr>
      <vt:lpstr>Example of traditional method calculation With Arrival Time(Two Process is equal)</vt:lpstr>
      <vt:lpstr>With Arrival Time(Two Process is equal)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Chapter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Ali</dc:creator>
  <cp:lastModifiedBy>Ahmed Ali</cp:lastModifiedBy>
  <cp:revision>7</cp:revision>
  <dcterms:created xsi:type="dcterms:W3CDTF">2026-05-18T22:10:31Z</dcterms:created>
  <dcterms:modified xsi:type="dcterms:W3CDTF">2026-05-18T22:19:05Z</dcterms:modified>
</cp:coreProperties>
</file>